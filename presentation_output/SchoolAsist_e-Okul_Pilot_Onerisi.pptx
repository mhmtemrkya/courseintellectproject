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c996bbb5be48a5" /><Relationship Type="http://schemas.openxmlformats.org/officeDocument/2006/relationships/extended-properties" Target="/docProps/app.xml" Id="R82309fab88d347ca" /><Relationship Type="http://schemas.openxmlformats.org/officeDocument/2006/relationships/officeDocument" Target="/ppt/presentation.xml" Id="Rfe1f51d5623d4e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927443c3db4f39"/>
  </p:sldMasterIdLst>
  <p:notesMasterIdLst>
    <p:notesMasterId xmlns:r="http://schemas.openxmlformats.org/officeDocument/2006/relationships" r:id="Rf58d2a4703eb4d20"/>
  </p:notesMasterIdLst>
  <p:sldIdLst>
    <p:sldId xmlns:r="http://schemas.openxmlformats.org/officeDocument/2006/relationships" id="256" r:id="R5065c9d378974cd3"/>
    <p:sldId xmlns:r="http://schemas.openxmlformats.org/officeDocument/2006/relationships" id="257" r:id="R1cfbf2fa7dad44d4"/>
    <p:sldId xmlns:r="http://schemas.openxmlformats.org/officeDocument/2006/relationships" id="258" r:id="R1fad434386ef431d"/>
    <p:sldId xmlns:r="http://schemas.openxmlformats.org/officeDocument/2006/relationships" id="259" r:id="R8ee6f502b12a47c9"/>
    <p:sldId xmlns:r="http://schemas.openxmlformats.org/officeDocument/2006/relationships" id="260" r:id="Red874d7d9e8c4ab5"/>
    <p:sldId xmlns:r="http://schemas.openxmlformats.org/officeDocument/2006/relationships" id="261" r:id="R23beda54411c4dd2"/>
    <p:sldId xmlns:r="http://schemas.openxmlformats.org/officeDocument/2006/relationships" id="262" r:id="R66dcce175da94fca"/>
    <p:sldId xmlns:r="http://schemas.openxmlformats.org/officeDocument/2006/relationships" id="263" r:id="Re5bb653ec7ed482b"/>
    <p:sldId xmlns:r="http://schemas.openxmlformats.org/officeDocument/2006/relationships" id="264" r:id="R6e037d5921eb4565"/>
    <p:sldId xmlns:r="http://schemas.openxmlformats.org/officeDocument/2006/relationships" id="265" r:id="Ra65bb0fa49964868"/>
    <p:sldId xmlns:r="http://schemas.openxmlformats.org/officeDocument/2006/relationships" id="266" r:id="R2e226e289178479b"/>
    <p:sldId xmlns:r="http://schemas.openxmlformats.org/officeDocument/2006/relationships" id="267" r:id="R383b9c407dfd4c77"/>
    <p:sldId xmlns:r="http://schemas.openxmlformats.org/officeDocument/2006/relationships" id="268" r:id="Rb0bf55af4481441d"/>
    <p:sldId xmlns:r="http://schemas.openxmlformats.org/officeDocument/2006/relationships" id="269" r:id="Rd8fd6599a2284cf8"/>
    <p:sldId xmlns:r="http://schemas.openxmlformats.org/officeDocument/2006/relationships" id="270" r:id="R3c8fa09758534365"/>
    <p:sldId xmlns:r="http://schemas.openxmlformats.org/officeDocument/2006/relationships" id="271" r:id="R81a4748630ac41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cd864c8814e72" /><Relationship Type="http://schemas.openxmlformats.org/officeDocument/2006/relationships/slideMaster" Target="/ppt/slideMasters/slideMaster1.xml" Id="R74927443c3db4f39" /><Relationship Type="http://schemas.openxmlformats.org/officeDocument/2006/relationships/notesMaster" Target="/ppt/notesMasters/notesMaster1.xml" Id="Rf58d2a4703eb4d20" /><Relationship Type="http://schemas.openxmlformats.org/officeDocument/2006/relationships/presProps" Target="/ppt/presProps.xml" Id="Ra641855a489d417e" /><Relationship Type="http://schemas.openxmlformats.org/officeDocument/2006/relationships/tableStyles" Target="/ppt/tableStyles.xml" Id="R9bf4b3cc7fde49b9" /><Relationship Type="http://schemas.openxmlformats.org/officeDocument/2006/relationships/slide" Target="/ppt/slides/slide1.xml" Id="R5065c9d378974cd3" /><Relationship Type="http://schemas.openxmlformats.org/officeDocument/2006/relationships/slide" Target="/ppt/slides/slide2.xml" Id="R1cfbf2fa7dad44d4" /><Relationship Type="http://schemas.openxmlformats.org/officeDocument/2006/relationships/slide" Target="/ppt/slides/slide3.xml" Id="R1fad434386ef431d" /><Relationship Type="http://schemas.openxmlformats.org/officeDocument/2006/relationships/slide" Target="/ppt/slides/slide4.xml" Id="R8ee6f502b12a47c9" /><Relationship Type="http://schemas.openxmlformats.org/officeDocument/2006/relationships/slide" Target="/ppt/slides/slide5.xml" Id="Red874d7d9e8c4ab5" /><Relationship Type="http://schemas.openxmlformats.org/officeDocument/2006/relationships/slide" Target="/ppt/slides/slide6.xml" Id="R23beda54411c4dd2" /><Relationship Type="http://schemas.openxmlformats.org/officeDocument/2006/relationships/slide" Target="/ppt/slides/slide7.xml" Id="R66dcce175da94fca" /><Relationship Type="http://schemas.openxmlformats.org/officeDocument/2006/relationships/slide" Target="/ppt/slides/slide8.xml" Id="Re5bb653ec7ed482b" /><Relationship Type="http://schemas.openxmlformats.org/officeDocument/2006/relationships/slide" Target="/ppt/slides/slide9.xml" Id="R6e037d5921eb4565" /><Relationship Type="http://schemas.openxmlformats.org/officeDocument/2006/relationships/slide" Target="/ppt/slides/slide10.xml" Id="Ra65bb0fa49964868" /><Relationship Type="http://schemas.openxmlformats.org/officeDocument/2006/relationships/slide" Target="/ppt/slides/slide11.xml" Id="R2e226e289178479b" /><Relationship Type="http://schemas.openxmlformats.org/officeDocument/2006/relationships/slide" Target="/ppt/slides/slide12.xml" Id="R383b9c407dfd4c77" /><Relationship Type="http://schemas.openxmlformats.org/officeDocument/2006/relationships/slide" Target="/ppt/slides/slide13.xml" Id="Rb0bf55af4481441d" /><Relationship Type="http://schemas.openxmlformats.org/officeDocument/2006/relationships/slide" Target="/ppt/slides/slide14.xml" Id="Rd8fd6599a2284cf8" /><Relationship Type="http://schemas.openxmlformats.org/officeDocument/2006/relationships/slide" Target="/ppt/slides/slide15.xml" Id="R3c8fa09758534365" /><Relationship Type="http://schemas.openxmlformats.org/officeDocument/2006/relationships/slide" Target="/ppt/slides/slide16.xml" Id="R81a4748630ac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d0b09474c549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6506d231364e79" /><Relationship Type="http://schemas.openxmlformats.org/officeDocument/2006/relationships/notesMaster" Target="/ppt/notesMasters/notesMaster1.xml" Id="Rec35fdd9c4a948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840ecfddaf432e" /><Relationship Type="http://schemas.openxmlformats.org/officeDocument/2006/relationships/notesMaster" Target="/ppt/notesMasters/notesMaster1.xml" Id="Rfc8daae91ad0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55c26026fc4a01" /><Relationship Type="http://schemas.openxmlformats.org/officeDocument/2006/relationships/notesMaster" Target="/ppt/notesMasters/notesMaster1.xml" Id="R7f1f3ebe19a4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72e3eced0f4e57" /><Relationship Type="http://schemas.openxmlformats.org/officeDocument/2006/relationships/notesMaster" Target="/ppt/notesMasters/notesMaster1.xml" Id="Ree75fdce90f546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f61a287e904e5c" /><Relationship Type="http://schemas.openxmlformats.org/officeDocument/2006/relationships/notesMaster" Target="/ppt/notesMasters/notesMaster1.xml" Id="R40dfb7b81de948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ece0da91944ec" /><Relationship Type="http://schemas.openxmlformats.org/officeDocument/2006/relationships/notesMaster" Target="/ppt/notesMasters/notesMaster1.xml" Id="R825cf0f47ce74d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d71cdc8ff74fd0" /><Relationship Type="http://schemas.openxmlformats.org/officeDocument/2006/relationships/notesMaster" Target="/ppt/notesMasters/notesMaster1.xml" Id="R2f5f4233595e4e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573438b5014fa1" /><Relationship Type="http://schemas.openxmlformats.org/officeDocument/2006/relationships/notesMaster" Target="/ppt/notesMasters/notesMaster1.xml" Id="Rc8472a832c654a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593b4e21044589" /><Relationship Type="http://schemas.openxmlformats.org/officeDocument/2006/relationships/notesMaster" Target="/ppt/notesMasters/notesMaster1.xml" Id="Rde4dcfd0b5914b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865195ad0f42b4" /><Relationship Type="http://schemas.openxmlformats.org/officeDocument/2006/relationships/notesMaster" Target="/ppt/notesMasters/notesMaster1.xml" Id="R11247aa0355c48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bebf22542c4224" /><Relationship Type="http://schemas.openxmlformats.org/officeDocument/2006/relationships/notesMaster" Target="/ppt/notesMasters/notesMaster1.xml" Id="Rfbe4af07b41749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6b38050097482e" /><Relationship Type="http://schemas.openxmlformats.org/officeDocument/2006/relationships/notesMaster" Target="/ppt/notesMasters/notesMaster1.xml" Id="R94b6ee8c5c8943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7568152cba484e" /><Relationship Type="http://schemas.openxmlformats.org/officeDocument/2006/relationships/notesMaster" Target="/ppt/notesMasters/notesMaster1.xml" Id="R65c348867dd645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d8969da8bf4cee" /><Relationship Type="http://schemas.openxmlformats.org/officeDocument/2006/relationships/notesMaster" Target="/ppt/notesMasters/notesMaster1.xml" Id="R5e55efe0e1df4e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dc8a042cad4870" /><Relationship Type="http://schemas.openxmlformats.org/officeDocument/2006/relationships/notesMaster" Target="/ppt/notesMasters/notesMaster1.xml" Id="R5977814dcc0846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9f83f28e9f4ac8" /><Relationship Type="http://schemas.openxmlformats.org/officeDocument/2006/relationships/notesMaster" Target="/ppt/notesMasters/notesMaster1.xml" Id="Rd163a799622c4b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 amacı: SchoolAsist'in doğrulanmış mevcut kabiliyetlerini göstermek ve e‑Okul için kontrollü pilot entegrasyon önerisini sunmak. Bu sunum herhangi bir MEB onayı veya mevcut entegrasyon iddiası içermez.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Önerilen hedef mimaridir. e‑Okul'un resmî kayıt otoritesi olduğu yaklaşımı MEB'in e‑Okul tanımına dayanır. Kaynak: https://sgb.meb.gov.tr/meb_iys_dosyalar/2023_08/24152252_2023_Butce_Raporu.pdf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problem hipotezlerini tanımlar; sayısal gerçekleşme iddiası değildir. Pilot başlangıcında mevcut durum ölçümü yapılmalıdır.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SchoolAsist proje kanıtları: backend/CourseIntellect.Domain/Permissions/SchoolModuleCatalog.cs; backend/CourseIntellect.Api/Controllers; desktop/src/App.js; backend/CourseIntellect.Domain/Entities/ConsentEntities.cs; desktop/src/pages/driving.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Görsel: presentation_workspace/screenshots/academics.png. Ekran yerel demo ortamından 04.09.2026 tarihinde alınmıştır; demo verileri temsili olup ürün işlevini göstermek içindir.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Görseller: presentation_workspace/screenshots/attendance.png ve kiosk-qr.png. QR oturum servisi kanıtı: backend/CourseIntellect.Api/Controllers/AttendanceQrSessionsController.cs. e‑Okul’a yoklama aktarımı henüz mevcut entegrasyon olarak sunulmamaktadır; pilot kapsamıdır.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Görseller: teacher-dashboard.png, student-study-plan.png, parent-dashboard.png. Yerel demo ortamından 04.09.2026 tarihinde alınmıştır. Görseller mevcut rol bazlı arayüzü kanıtlar.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Görsel: branch-selection.png. Proje rol ve kapsam kanıtı: SchoolModuleCatalog.cs, App.js ve yetki kontrollü controller yapısı. '0 tolerans' önerilen pilot kabul kriteridir, gerçekleşmiş test sonucu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Görseller: settings-consent-entry.png ve consent-forms.png. Varlık modeli kanıtı: backend/CourseIntellect.Domain/Entities/ConsentEntities.cs. KVKK açısından bu işlev tek başına uyum garantisi değildir; veri sorumlusu gerekli teknik ve idari tedbirleri belirlemelidir. Kaynak: https://www.kvkk.gov.tr/Icerik/2040/Veri-Guvenligine-Iliskin-Yukumlulukler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 önerilen hedef mimaridir; mevcut e‑Okul entegrasyonu değildir. e‑Okul tanımı ve kapsamı: https://sgb.meb.gov.tr/meb_iys_dosyalar/2023_08/24152252_2023_Butce_Raporu.pdf. KVKK teknik/idari tedbir ilkeleri: https://www.kvkk.gov.tr/Icerik/2040/Veri-Guvenligine-Iliskin-Yukumlulukler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Önerilen pilot işlem yaşam döngüsüdür. MEB teknik şartları ve erişilebilir servis modeli doğrultusunda ayrıntılandırılmalıdır.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K12NET kaynağı: https://dokuman.k12net.com/dokuman/genel/k12netpdf.PDF (özellikle e‑Okul, ölçme-değerlendirme, not defteri, devamsızlık ve sınav organizasyonu bölümleri). SchoolAsist kanıtları: App.js, ilgili akademik/öğretmen sayfaları, AttendanceQrSessionsController.cs ve mebbis-work-center.png. Karşılaştırma 'daha iyi' iddiası değil; mevcut/parite farkı analizidir.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K12NET kaynağı: https://dokuman.k12net.com/dokuman/genel/k12netpdf.PDF (portal/yetki, etüt, sağlık, PDKS, stok, alışveriş, kulüp ve iletişim bölümleri). SchoolAsist kanıtları: branch-selection.png, student-study-plan.png, consent-forms.png, mebbis-work-center.png ve proje kaynakları. 'Kamuya açık genel broşürde ana odak değil' ifadesi özellik yokluğu iddiası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yol haritası öneridir; teslim taahhüdü veya mevcut özellik beyanı değildir. Faz 2/3 kapsamı K12NET kamuya açık dokümanında görülen olgun parite alanlarından türetilmiştir: https://dokuman.k12net.com/dokuman/genel/k12netpdf.PDF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haftalık plan öneridir; MEB servis erişimi, güvenlik değerlendirmesi ve pilot okul takvimine göre güncellenir. Bu süre bir sözleşmesel teslim taahhüdü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Tüm başarı eşikleri önerilen pilot kabul kriterleridir; mevcut performans sonucu değildir. KVKK güvenlik yükümlülükleri için: https://www.kvkk.gov.tr/Icerik/2040/Veri-Guvenligine-Iliskin-Yukumlulukler. e‑Okul sistem kapsamı için: https://sgb.meb.gov.tr/meb_iys_dosyalar/2023_08/24152252_2023_Butce_Raporu.pdf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b048aa41a4a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55d466e73b49e8" /><Relationship Type="http://schemas.openxmlformats.org/officeDocument/2006/relationships/slideLayout" Target="/ppt/slideLayouts/slideLayout1.xml" Id="R022ae2e47ba844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2ae2e47ba844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c0d14fec5417d" /><Relationship Type="http://schemas.openxmlformats.org/officeDocument/2006/relationships/image" Target="/ppt/media/image.png" Id="Rbe04aae54522471d" /><Relationship Type="http://schemas.openxmlformats.org/officeDocument/2006/relationships/notesSlide" Target="/ppt/notesSlides/notesSlide1.xml" Id="Rddbdc254d4dc46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72c7d5c704322" /><Relationship Type="http://schemas.openxmlformats.org/officeDocument/2006/relationships/notesSlide" Target="/ppt/notesSlides/notesSlide2.xml" Id="R88823128bf184b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e504a39074f4c" /><Relationship Type="http://schemas.openxmlformats.org/officeDocument/2006/relationships/notesSlide" Target="/ppt/notesSlides/notesSlide3.xml" Id="Rea01ff7455974d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af6e987384635" /><Relationship Type="http://schemas.openxmlformats.org/officeDocument/2006/relationships/notesSlide" Target="/ppt/notesSlides/notesSlide4.xml" Id="Rd091a456152441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9aad18188487f" /><Relationship Type="http://schemas.openxmlformats.org/officeDocument/2006/relationships/image" Target="/ppt/media/image.jpeg" Id="R74c6fe4a4d134b1e" /><Relationship Type="http://schemas.openxmlformats.org/officeDocument/2006/relationships/notesSlide" Target="/ppt/notesSlides/notesSlide5.xml" Id="R0377d9f025a8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edc9936554dc7" /><Relationship Type="http://schemas.openxmlformats.org/officeDocument/2006/relationships/image" Target="/ppt/media/image2.jpeg" Id="R84a819f58f1445e6" /><Relationship Type="http://schemas.openxmlformats.org/officeDocument/2006/relationships/image" Target="/ppt/media/image3.jpeg" Id="R45226d356d854355" /><Relationship Type="http://schemas.openxmlformats.org/officeDocument/2006/relationships/notesSlide" Target="/ppt/notesSlides/notesSlide6.xml" Id="Rbade7514a79445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fc950c86341ee" /><Relationship Type="http://schemas.openxmlformats.org/officeDocument/2006/relationships/image" Target="/ppt/media/image4.jpeg" Id="R0d7900f73820428a" /><Relationship Type="http://schemas.openxmlformats.org/officeDocument/2006/relationships/image" Target="/ppt/media/image5.jpeg" Id="R023e4b5aac224222" /><Relationship Type="http://schemas.openxmlformats.org/officeDocument/2006/relationships/image" Target="/ppt/media/image6.jpeg" Id="Rf0a584d9b07c42af" /><Relationship Type="http://schemas.openxmlformats.org/officeDocument/2006/relationships/notesSlide" Target="/ppt/notesSlides/notesSlide7.xml" Id="R5904e9a98ae34b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865c0fff949c2" /><Relationship Type="http://schemas.openxmlformats.org/officeDocument/2006/relationships/image" Target="/ppt/media/image7.jpeg" Id="R06e11debfe144dc0" /><Relationship Type="http://schemas.openxmlformats.org/officeDocument/2006/relationships/notesSlide" Target="/ppt/notesSlides/notesSlide8.xml" Id="Rce44c88ead824e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bee6dcd85431d" /><Relationship Type="http://schemas.openxmlformats.org/officeDocument/2006/relationships/image" Target="/ppt/media/image8.jpeg" Id="R77ba31df648c4022" /><Relationship Type="http://schemas.openxmlformats.org/officeDocument/2006/relationships/image" Target="/ppt/media/image9.jpeg" Id="Rb9bb7a3a12694625" /><Relationship Type="http://schemas.openxmlformats.org/officeDocument/2006/relationships/notesSlide" Target="/ppt/notesSlides/notesSlide9.xml" Id="R983aea07bf4745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74dce7e146e8" /><Relationship Type="http://schemas.openxmlformats.org/officeDocument/2006/relationships/notesSlide" Target="/ppt/notesSlides/notesSlide10.xml" Id="R3bd3c4d03de14a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abd6cc704dcf" /><Relationship Type="http://schemas.openxmlformats.org/officeDocument/2006/relationships/notesSlide" Target="/ppt/notesSlides/notesSlide11.xml" Id="Re072ac8148d043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6a6b5b89e438d" /><Relationship Type="http://schemas.openxmlformats.org/officeDocument/2006/relationships/notesSlide" Target="/ppt/notesSlides/notesSlide12.xml" Id="Rbf1633cddc3343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bd31018e7435e" /><Relationship Type="http://schemas.openxmlformats.org/officeDocument/2006/relationships/notesSlide" Target="/ppt/notesSlides/notesSlide13.xml" Id="Rf9026281ff394f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159bef0d547a2" /><Relationship Type="http://schemas.openxmlformats.org/officeDocument/2006/relationships/notesSlide" Target="/ppt/notesSlides/notesSlide14.xml" Id="R4c025fc7b5ed43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9efeef74747a3" /><Relationship Type="http://schemas.openxmlformats.org/officeDocument/2006/relationships/notesSlide" Target="/ppt/notesSlides/notesSlide15.xml" Id="R74521aab020d49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7e0cf8c2443f3" /><Relationship Type="http://schemas.openxmlformats.org/officeDocument/2006/relationships/image" Target="/ppt/media/image2.png" Id="R6a58e0ba63944b08" /><Relationship Type="http://schemas.openxmlformats.org/officeDocument/2006/relationships/notesSlide" Target="/ppt/notesSlides/notesSlide16.xml" Id="Rc154096e0274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05B7B-F8A6-46B0-B83A-B3F7334C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CD6A5-20A9-403B-AEE1-85500C7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44767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0">
            <a:solidFill>
              <a:srgbClr val="10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90FDB-8CB6-49E0-B780-D07BF27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1500"/>
            <a:ext cx="2667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0">
            <a:solidFill>
              <a:srgbClr val="162A4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6A30D-EE4D-4FCF-911D-36675F93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933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4aae54522471d"/>
          <a:stretch xmlns:a="http://schemas.openxmlformats.org/drawingml/2006/main"/>
        </p:blipFill>
        <p:spPr>
          <a:xfrm xmlns:a="http://schemas.openxmlformats.org/drawingml/2006/main">
            <a:off x="613889" y="514350"/>
            <a:ext cx="810573" cy="819150"/>
          </a:xfrm>
          <a:prstGeom xmlns:a="http://schemas.openxmlformats.org/drawingml/2006/main" prst="roundRect">
            <a:avLst>
              <a:gd name="adj" fmla="val 16279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1F75E-E97B-40F4-BD55-DA5FEA29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24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53CFD-62A4-40A3-A575-2A3FE11B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0001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OKUL YÖNETİM SİSTEMİ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52E03-C230-4C96-8AAA-1965E658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704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Entegrasyonu</a:t>
            </a:r>
          </a:p>
          <a:p xmlns:a="http://schemas.openxmlformats.org/drawingml/2006/main">
            <a:pPr algn="l">
              <a:defRPr sz="36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ve Pilot Uygulama Önerisi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4B9A2-EE88-4EC1-8655-B7BE0271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Resmî kayıt otoritesini koruyan; okulun günlük operasyonunu hızlandıran, denetlenebilir entegrasyon yaklaşımı.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39454-D222-4EA4-89B4-AF54972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3333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CF8F4-7796-41A5-AB86-A11476ED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3181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MEB DEĞERLENDİRMESİNE SUNULMAK ÜZERE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F621B-5482-4674-8FED-BC34E662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04 Eylül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804A0-94EA-4039-B3C5-0E0D5339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4B7B47-BEAB-4A5D-8313-A4BB31BE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4762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AB07E-E282-4BE4-9EA2-42D611DB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859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B4B21-4601-4842-BBA2-7800AB03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621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Tek platform, çok 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72E3F6-E5CB-4D96-9AB7-28280DDB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527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6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Yönetici · öğretmen · öğrenci · veli · idari · muhasebe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318C5-B0DA-4FE2-A13D-24F1BD22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26670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66070-09B5-41B3-B159-ED39BAB8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95600"/>
            <a:ext cx="4762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531C8C-B4FF-403F-9F4C-0B0711C6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6705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0D6A1-2086-4B9D-B823-9FF2C0DE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4327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QR yoklama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433744-37ED-4F52-ACFD-7550350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3380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Kiosk ve mobil doğrulama akışı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7CD06-BF9D-4277-8149-249725C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76700"/>
            <a:ext cx="3143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79E00-B31C-410E-9350-B6257842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76700"/>
            <a:ext cx="4762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7D13B5-0988-4213-B0C0-7DA3D981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4815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ÖNERİ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A08AC4-ACD7-44B1-8C1F-DEC50C03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5243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adaptörü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3AF1BA-E426-4CDF-862F-AB9529A1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14900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Doğrulama, kuyruk, mutabakat ve denetim izi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42818-5A0C-4839-A23F-EDC257E3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76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</p:spTree>
    <p:extLst>
      <p:ext uri="{BB962C8B-B14F-4D97-AF65-F5344CB8AC3E}">
        <p14:creationId xmlns:p14="http://schemas.microsoft.com/office/powerpoint/2010/main" val="95388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E2C323-291C-4426-9664-25792F0F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YÖNETICI ÖZETI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6900A-50AD-455C-8CFB-64A21E5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Öneri: e‑Okul otorite, SchoolAsist operasyon katmanı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536D9-7D24-4751-8A17-8436F458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Amaç sistem değiştirmek değil; mükerrer işi azaltan, ölçülebilir ve geri alınabilir bir pilot kurmaktır.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91188-F5EE-4B0E-9C40-97898966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D9956-254B-4F02-8B27-9E99A5A6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CDE0B-E2F8-4BF7-B238-065AC9C8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1E681-1A3E-457B-BA34-0AB29CB1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8B2E9-D5FB-471E-AF86-4D1AFF91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DDE5A7-DD0B-4CB8-AC65-3930087E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E‑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D5261E-A0E2-4830-8CCA-EC548FDF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B0C8E-9CA9-4A50-85FC-9E00DEF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Resmî öğrenci ve okul kayıtlarının yetkili kaynağı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494E7F-0DFC-448E-A941-7C00A863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5CE19-37B9-44B9-ABFA-9E579AC0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757371-42B1-435B-BEB6-B75858A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GÜ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B1403-2068-4E48-BF36-94299A92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2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Güvenli entegrasyon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34538-0E85-42AE-9EAB-C50E2006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67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Şema doğrulama · kuyruk · log · mutabakat · hata yönetimi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C81CB-9764-44A6-B32E-FB40AC7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2857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57BAB-3E10-4BD0-92EB-1C67C16C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2B5D5-6577-44F5-BE3F-120BFC7A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SC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E66D8-3B6C-4E2C-8C66-57401B9D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1CBBE-2E0A-49FA-82DB-C3124EB2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Günlük operasyon, rol ekranları ve kurum içi iş akışları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A279E-21CA-4E5C-BC2B-8DE142B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2412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938"/>
          </a:solidFill>
          <a:ln xmlns:a="http://schemas.openxmlformats.org/drawingml/2006/main" w="0">
            <a:solidFill>
              <a:srgbClr val="FFB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96112-4408-4640-8653-ADF57B03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24125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938"/>
          </a:solidFill>
          <a:ln xmlns:a="http://schemas.openxmlformats.org/drawingml/2006/main" w="0">
            <a:solidFill>
              <a:srgbClr val="FFB93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33D651-6509-4CF7-ACBB-71C62687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B7780-C5C6-4D32-99CA-58304DF5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50B2E-C566-4CC0-BB76-5B9B4DF9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4C74B-CD6B-451F-AE49-B137C4E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Tekrarlı veri girişini azalt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BF8D6A-4B3A-4759-88EE-7A87BC0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Aynı bilginin farklı ekranlara elle taşınmasını pilot kabul kriterleriyle ölç.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62601B-1375-412C-AA75-0FB3BF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CFD79-1FD4-4B87-A838-B590EC3D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C11D8C-0645-4B86-97FF-8D5D5AAB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ED010-B9AB-45D9-BFC3-6EB19432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910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Hata görünürlüğünü artır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95E742-5CCE-435C-A115-4C3E9F3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Başarısız senkronizasyonu kaybetmek yerine kuyrukta, nedeni ve sorumlusu ile görünür kıl.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CC8966-CB63-4DC5-8E8B-208A1F9E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333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06B704-BFAF-4FE5-A845-35101F1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4B323-75CC-41D6-8EFB-F6AC71BF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4BD20A-524E-41D7-95F5-94B8D6F3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293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Kullanıcı deneyimini sadeleştir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FD07DD-13C9-4614-98D6-B8F7CBA7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8155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Rol ve şube kapsamına göre yalnız gerekli işlemleri öne çıkar.</a:t>
            </a:r>
          </a:p>
        </p:txBody>
      </p:sp>
    </p:spTree>
    <p:extLst>
      <p:ext uri="{BB962C8B-B14F-4D97-AF65-F5344CB8AC3E}">
        <p14:creationId xmlns:p14="http://schemas.microsoft.com/office/powerpoint/2010/main" val="21163055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4F70D-5A6D-4778-8210-0C53692D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KAMU PROBLEMI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A0FF4-DF29-4680-9B7A-FA86CF49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Entegrasyonun değeri yeni bir ekran değil, daha güvenli bir süreçtir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22AF7-B510-418E-8306-3DB61317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Pilot, okul iş akışındaki kırılmaları ölçülebilir kontrol noktalarına dönüştürmelidir.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F5224-1F47-410E-9603-FD0F206E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C3DD0-AEBA-4E60-8EDC-0CD06906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12A74-1092-4EA1-975F-5514E69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A5A92-6624-434B-AB9F-DFB099FD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DBF00-FB18-42C6-8B49-F9FF6792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3F4D1-2D86-4BC4-85B9-0DCD7E1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38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Mükerrer giriş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18F7E-7104-47A8-B084-1331B1E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860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Aynı öğrenci, ders, yoklama veya not verisinin farklı sistemlerde yeniden yazılması.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23AA-1C14-408C-B592-5E174574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8935D-D6C6-44DE-9E31-AF9EF013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DFA54-790B-4B81-827E-6ADE8B83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Gecikmiş görünürlük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0627A-503C-4159-947A-61E53631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8602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Saha işlemi ile merkezî kaydın arasındaki zaman farkının karar kalitesini düşürmesi.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EE52E-2527-44A9-83FA-7363F144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19742-866F-4544-BF2F-4A6F2EC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DF10E-9642-46F5-9F05-113CAB36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48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Sessiz hata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D753E-5BDD-44AB-9141-7D5F0443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957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Format, yetki veya bağlantı hatasının kullanıcıya ve yöneticiye yeterince iz bırakmadan yansıması.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6D021-F59B-4D8E-A787-F9926A79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5238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2BDE1-35FC-44F0-92B7-2B2B6CAE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481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8C1A4-3C86-4657-81D8-881009AC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karmaşası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902029-9303-4578-8F63-4F53B7DC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957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Kullanıcının yetki alanı dışındaki menü ve verilerle karşılaşması; şube kapsamının belirsizleşmesi.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1202F2-FEF0-4634-94A6-44AFC9B9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EA4DC-800F-4F5E-BCA0-30274C24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9775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PİLOT PRENSİBİ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19E28F-A99E-417D-833B-B2B9D897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0072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Her veri hareketi; kaynak, zaman, kapsam, sonuç ve hata nedeni ile izlenebilir olmalı.</a:t>
            </a:r>
          </a:p>
        </p:txBody>
      </p:sp>
    </p:spTree>
    <p:extLst>
      <p:ext uri="{BB962C8B-B14F-4D97-AF65-F5344CB8AC3E}">
        <p14:creationId xmlns:p14="http://schemas.microsoft.com/office/powerpoint/2010/main" val="671405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593E04D-5281-40ED-93AD-59EE2DC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SCHOOLASIST BUGÜN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A422E-BA76-4F22-94A1-1C7A73A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Entegrasyonun bağlanacağı operasyon omurgası hazır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E127D-B584-4EE7-82E1-AE27436D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Aşağıdaki başlıklar projedeki çalışan ekranlar, rol modelleri ve servis katmanlarıyla doğrulanmıştır.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287D-4AF4-41E9-BD85-70553DA0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AC918-E351-40F2-A23F-38CC08F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F4446-A161-4BC2-8BC8-DA0BD95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1A543-E07F-4CA0-96A8-6C4F63A2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993D0-367C-40F2-BA85-1FDD8A11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740E7-8A17-4B3A-8AEA-5727D06D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8488D-B08D-4BD2-B6AC-9973F658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DACBE-CD2B-4A9D-9523-DF659E2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4602C-F4A7-4385-ABFD-0C1B23B4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&amp; KAPSAM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15D0E0-DA9B-42DC-B999-DE21FE82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717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Yönetici · öğretmen · öğrenci · veli · idari · muhasebe · şube yöneticisi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85544-9525-4FBC-911F-B104F4F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0975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1D409-464D-40A5-913D-AE25A27B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CD2A-BD35-4411-AD50-B8211A42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26403-A8D0-4F9D-A913-FAEEE1B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383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3662D-5A17-476A-8A50-DFEC0DDE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C0C1D-5BDB-4CEA-8166-F61DE5F6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76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AKADEMİK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170B64-4DEB-4CE0-9A5F-3C15203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717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Sınıf, program, yoklama, sınav, içerik, ödev ve raporlama akışları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2812F-0F1A-45EB-9971-BD4489B0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16CCC-1DAF-4D67-988B-F5918A80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01721-9213-45C3-971E-626547E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5F869A-AAF3-4F45-9CA2-3BCEACD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383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88B20-217B-4BAF-8555-1F0E3AE4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803881-17C6-4DBA-B3FB-EDB3C283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765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ÖĞRENCİ DENEYİMİ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CD41D-5597-4270-AE55-6BA6EBCC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7177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Çalışma planı, ilerleme, rozet/XP, sınav ve duyuru görünümü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179F0-4BCF-43F0-8FCB-ADBAE2BF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C1071-A2F6-4E9F-A6B5-BDBA16CC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4C6D8"/>
          </a:solidFill>
          <a:ln xmlns:a="http://schemas.openxmlformats.org/drawingml/2006/main" w="0">
            <a:solidFill>
              <a:srgbClr val="54C6D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BB917-3ED9-4168-948C-BCD6779A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8F008-7873-4A2A-BCCB-A575ED7B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481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F53750-1418-4324-9D88-7D4FB5E8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E564E0-6858-4419-9F3F-C9426405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OPERASYON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1577DA-18FE-45DD-9B4E-ABD6AC6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Görev merkezi, toplantı, servis, yemekhane, kütüphane ve bildirimler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486EAC-7751-45A2-B5B6-A3D3C958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195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6EEDAB-73B2-4DF5-87E2-4FA2A6C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29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1AE3F3-1437-41BC-8FE5-58232DDF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FA5A1C-D4A5-4B33-83AF-D899D6C8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481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F27BB6-A07A-4919-AE85-2A9C7D85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F7C0F-8B45-4A76-9613-51DBB6A9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86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ONAM &amp; BELGE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338B1C-8E20-409C-8797-B20F0957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815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Tablet imza istasyonu, metin/PDF şablonu ve dosyaya eklenen onam kaydı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ADFA13-99B1-49EC-8766-65B3E864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33528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D1804C-DD88-4429-806C-7F249142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1BE855-C732-4BEA-A2EE-DD73DE9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76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97D93C-BA89-4DD3-A28B-268FA9A4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8481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926537-B100-4D49-B77B-2A9BC052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MEVCUT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8E31A2-EB8A-4B4F-94C3-A133C646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SÜRÜCÜ KURSU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37C0BA-6AEE-450F-A608-A8ADA07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81525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Aday, evrak, dönem, sınav, sertifika ve MEBBİS iş merkezi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078FB1-C8CA-4FDB-A54E-C28F53B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Not: Mevcut kabiliyet, e‑Okul’a bugün bağlı olduğu anlamına gelmez. e‑Okul adaptörü bu omurganın üzerine pilot kapsamında inşa edilecektir.</a:t>
            </a:r>
          </a:p>
        </p:txBody>
      </p:sp>
    </p:spTree>
    <p:extLst>
      <p:ext uri="{BB962C8B-B14F-4D97-AF65-F5344CB8AC3E}">
        <p14:creationId xmlns:p14="http://schemas.microsoft.com/office/powerpoint/2010/main" val="1420334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63C56-329C-41B2-8ED0-71CF4C2A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GERÇEK ÜRÜN EKRANI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4AAA6-6470-4A48-83D5-85A261EC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Kurum yöneticisi için tek operasyon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064AE-67C1-4C26-A1A8-DB0545AF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Akademik durum, öğretmen görünürlüğü ve ilgili modüllere geçiş tek bağlamda sunulur.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ADBB7-3B7E-4415-98BF-EE10D3F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E3B8F-C67A-433F-A592-882DA2C4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B3111-3D32-403E-ACD9-0A94FC8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8AF1E-A15D-4F9A-BCAF-FF0EF3F4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76390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6fe4a4d134b1e"/>
          <a:stretch xmlns:a="http://schemas.openxmlformats.org/drawingml/2006/main"/>
        </p:blipFill>
        <p:spPr>
          <a:xfrm xmlns:a="http://schemas.openxmlformats.org/drawingml/2006/main">
            <a:off x="555625" y="1714500"/>
            <a:ext cx="7518400" cy="4229100"/>
          </a:xfrm>
          <a:prstGeom xmlns:a="http://schemas.openxmlformats.org/drawingml/2006/main" prst="roundRect">
            <a:avLst>
              <a:gd name="adj" fmla="val 31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EAB05-DAD5-4ACD-98FA-B29FD773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95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57865-B806-430B-92B6-58B88CFC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24967-DB87-46A2-82A7-90328077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240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2B9E8-2639-42C0-B026-82D9F06B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00275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odaklı navigasyon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F73AB-D366-4CBF-8EBA-6C263536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3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Kullanıcı yalnız göreviyle ilişkili ekranlara yönlendirilir.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11717-CF8D-481F-A314-8057BE7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2895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4659E-04D5-4219-8351-DC54C450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E1768-56B7-49F5-8A65-ADAD14DB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766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A785F-29B0-4923-A18D-A4A850A7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52825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Şube bağlamı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112D4-0DDD-44D1-BE0D-C9BEF3EB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433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55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Görünen kayıtlar seçili kurum ve şube kapsamına göre filtrelenir.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5217C-4F2B-4BAF-9EEC-539206A2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2895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6765F-1FD9-42D9-84FB-045B5D73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47625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3DEDB-EEFD-470C-8735-DA19421F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2915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6F0C2-ACBA-49A7-8571-333702CC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05375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İşleme giden gösterge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032BE4-3A7E-4E54-867E-9C0A2CB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95900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549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Kart ve özetler yalnız rapor değil, ilgili iş akışına geçiş noktasıdır.</a:t>
            </a:r>
          </a:p>
        </p:txBody>
      </p:sp>
    </p:spTree>
    <p:extLst>
      <p:ext uri="{BB962C8B-B14F-4D97-AF65-F5344CB8AC3E}">
        <p14:creationId xmlns:p14="http://schemas.microsoft.com/office/powerpoint/2010/main" val="418830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B6C7B-73F8-4839-B56B-BC54AC31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FARKLILAŞTIRICI IŞ AKIŞI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4BE79-90B8-4E16-8E99-87B2EFB0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Yoklamayı sınıftan denetim izine taşıyan QR akışı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C43D6-B7C9-4676-8322-97D921C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Kiosk üretir, öğrenci mobilde doğrular, yetkili kullanıcı sonuçları rol kapsamıyla izler.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FC6DA-4242-4415-A2C6-CBB64DE5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7935F-7F6D-40A5-987D-22A39411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22430-F2A7-42E9-9A6F-EA2D483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BE0E3-7E33-408A-8408-496D278B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55245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819f58f1445e6"/>
          <a:stretch xmlns:a="http://schemas.openxmlformats.org/drawingml/2006/main"/>
        </p:blipFill>
        <p:spPr>
          <a:xfrm xmlns:a="http://schemas.openxmlformats.org/drawingml/2006/main">
            <a:off x="533400" y="1840706"/>
            <a:ext cx="5410200" cy="3043238"/>
          </a:xfrm>
          <a:prstGeom xmlns:a="http://schemas.openxmlformats.org/drawingml/2006/main" prst="roundRect">
            <a:avLst>
              <a:gd name="adj" fmla="val 424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C8900-2C7E-468F-BF91-4DF206C5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3340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26d356d854355"/>
          <a:stretch xmlns:a="http://schemas.openxmlformats.org/drawingml/2006/main"/>
        </p:blipFill>
        <p:spPr>
          <a:xfrm xmlns:a="http://schemas.openxmlformats.org/drawingml/2006/main">
            <a:off x="6438900" y="1894284"/>
            <a:ext cx="5219700" cy="2936081"/>
          </a:xfrm>
          <a:prstGeom xmlns:a="http://schemas.openxmlformats.org/drawingml/2006/main" prst="roundRect">
            <a:avLst>
              <a:gd name="adj" fmla="val 424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2CC99-5D93-41D6-B3A6-CB8B885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D6421-1204-4E56-AB81-9EAA8D67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3BF2E3-4CF3-45F9-8935-CDC17C3C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Oturum açılır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1134E-D1CB-4498-98B6-1AB0DD30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864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F4DA5-BAA2-483C-A378-11C822A9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320A8-C1C8-4615-A93A-1D509FCE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6F5CA-8346-4AA8-AB54-73CDFDD5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Süreli QR üretilir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29EEEF-2C65-453B-B928-E5B32C45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864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FFB45-7D84-45DD-A185-E512B1B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7DAC4-B67A-40FA-80E5-F3E691C0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21D24-BD99-4193-B555-CB0C690A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Mobil doğrular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B3EA8-4F90-4836-B1CB-622EC2AB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86400"/>
            <a:ext cx="3333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B4404-4AA1-423F-8276-920DD48C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292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52D81-BB17-4D63-BF5F-D913D00A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476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574F9-A5B6-4885-A775-EF836F10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76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Kayıt raporlanır</a:t>
            </a:r>
          </a:p>
        </p:txBody>
      </p:sp>
    </p:spTree>
    <p:extLst>
      <p:ext uri="{BB962C8B-B14F-4D97-AF65-F5344CB8AC3E}">
        <p14:creationId xmlns:p14="http://schemas.microsoft.com/office/powerpoint/2010/main" val="1528226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12641-9269-407B-8A4D-5DA66DFE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KULLANICI DENEYIMI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1C967-4BB7-4664-B1C4-7E189F70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Aynı veri, role göre farklı karar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A78D8-14E1-4335-8CCD-C8F61BC1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Öğretmen işi yürütür; öğrenci planını görür; veli çocuğunun kritik durumunu takip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D640E-A3D1-4D7F-9112-4028EA9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7B9CB-1FF4-4128-B00D-F5845930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99F1C-5AF2-4B4A-92B4-D305AFA9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A30C7-2363-4908-A0F5-E97B6DAC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752600"/>
            <a:ext cx="36385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7900f73820428a"/>
          <a:srcRect xmlns:a="http://schemas.openxmlformats.org/drawingml/2006/main" l="16647" t="0" r="16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809750"/>
            <a:ext cx="3524250" cy="2971800"/>
          </a:xfrm>
          <a:prstGeom xmlns:a="http://schemas.openxmlformats.org/drawingml/2006/main" prst="roundRect">
            <a:avLst>
              <a:gd name="adj" fmla="val 448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B10B1-BA9A-4FDB-AC4F-D5B7BC1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46DE1-4F73-4164-A26B-B2758598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ÖĞRETMEN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25C8-CB3A-4B33-979A-39C6C0B7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Ders, değerlendirme, sınav ve içerik odağı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8A70E-74A2-45A8-9433-E0162BB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36385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e4b5aac224222"/>
          <a:srcRect xmlns:a="http://schemas.openxmlformats.org/drawingml/2006/main" l="16647" t="0" r="16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00550" y="1809750"/>
            <a:ext cx="3524250" cy="2971800"/>
          </a:xfrm>
          <a:prstGeom xmlns:a="http://schemas.openxmlformats.org/drawingml/2006/main" prst="roundRect">
            <a:avLst>
              <a:gd name="adj" fmla="val 448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DB0203-A118-492A-9B57-5CCDA6BB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339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9525">
            <a:solidFill>
              <a:srgbClr val="A879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4ADAC-F4E8-41E5-B18B-37F6B12F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ÖĞRENCİ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2DF72-0BE9-4511-8789-0E78E122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Plan, hedef, çalışma serisi ve ilerleme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17E4F-1D3C-4FE6-84FB-8C245041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6385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584d9b07c42af"/>
          <a:srcRect xmlns:a="http://schemas.openxmlformats.org/drawingml/2006/main" l="16647" t="0" r="166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5800" y="1809750"/>
            <a:ext cx="3524250" cy="2971800"/>
          </a:xfrm>
          <a:prstGeom xmlns:a="http://schemas.openxmlformats.org/drawingml/2006/main" prst="roundRect">
            <a:avLst>
              <a:gd name="adj" fmla="val 448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F7A1F-3321-4FED-B0FE-CC69637F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33950"/>
            <a:ext cx="1104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D436C-FC14-4DBB-BA19-813F5221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72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VELİ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B78C9-E763-40E1-8AA8-E219333A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14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Devam, başarı, duyuru ve finans görünümü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5E148-893A-4AB0-8CA0-812A88F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24550"/>
            <a:ext cx="11334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5746C-A606-4E46-8377-54DEE3C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91225"/>
            <a:ext cx="1089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Sonuç: Kullanıcıya bütün sistemi değil, sorumlu olduğu işi gösteren bir arayüz modeli.</a:t>
            </a:r>
          </a:p>
        </p:txBody>
      </p:sp>
    </p:spTree>
    <p:extLst>
      <p:ext uri="{BB962C8B-B14F-4D97-AF65-F5344CB8AC3E}">
        <p14:creationId xmlns:p14="http://schemas.microsoft.com/office/powerpoint/2010/main" val="1840957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43ACFC-E825-41D5-ADCD-6355DE5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ERIŞIM MIMARISI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E9106-911A-4CDB-956D-A82E75D1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Yetki yalnız role değil, kurum ve şube kapsamına da bağlı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DAD92-9CEA-4FE9-8943-BC3C8D7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Entegrasyonda aynı kapsam zinciri veri okuma, yazma ve hata görüntüleme işlemlerine uygulanmalıdır.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7D98A-D4C0-4DFD-83DC-10AD48C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1658D2-728C-4D72-9058-7EF9A745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39232-E7F5-46DF-A6EA-36B434F5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50BED-967D-4EFD-8A85-6302AEFA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14500"/>
            <a:ext cx="544830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11debfe144dc0"/>
          <a:stretch xmlns:a="http://schemas.openxmlformats.org/drawingml/2006/main"/>
        </p:blipFill>
        <p:spPr>
          <a:xfrm xmlns:a="http://schemas.openxmlformats.org/drawingml/2006/main">
            <a:off x="533400" y="2128838"/>
            <a:ext cx="5334000" cy="3000375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84F89-EF7F-4FCF-9E82-88D5F3C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76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7877C-485E-445D-A802-910BAD33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27437-3D28-46C7-AEBF-170A0B3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66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1486C-4733-4751-86E5-326ACC6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62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Kurum / tenant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421CE-EAAA-455E-8646-8B418288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288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Veri sahipliği ve izolasyon sınırı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FEC84-2C91-410B-966E-191D12C8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4229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77FF7-2438-47E6-86B1-8D66FF2C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357F0-BCF0-4132-B48B-6D5DD8E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622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BE813-195A-453B-806C-5491F06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346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Şube kapsamı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AEB2A-7DDB-4977-9CD8-5E534AEE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242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Birleşik görünüm veya yetkili şube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BD58A-0498-46D6-9D58-F938C4F1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19500"/>
            <a:ext cx="36957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AEBF62-128C-4D80-865E-B10419C3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91FE6-D274-45D7-B7B6-8394A66B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57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3C003-AA16-4768-BCD1-D1B4662E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Rol ve izin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77372C-8566-4983-9779-74BF2AF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1955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İşlem bazlı erişim kontrolü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B296F-A022-4EC4-AA5B-F9CF2EF8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14850"/>
            <a:ext cx="3162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16D7F-F287-409F-89D5-95EC5308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8FEA01-C8A6-40F6-AE54-D022B118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52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4FB51-763C-4161-B061-4E67B21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Kayıt filtresi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8F388B-8076-4DCF-96BE-8320F0A8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14900"/>
            <a:ext cx="240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Sorgu ve iş kuralında son kapsam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866ED-E716-4542-8534-BE3069BF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1600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9525">
            <a:solidFill>
              <a:srgbClr val="FFF3D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3DED7-0F06-4BC4-BA0A-42FDE725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76900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PİLOT KABUL KRİTERİ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DB4922-9661-41B7-98DD-5EEE023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769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Yetkisiz çapraz kurum/şube erişimi: 0 tolerans</a:t>
            </a:r>
          </a:p>
        </p:txBody>
      </p:sp>
    </p:spTree>
    <p:extLst>
      <p:ext uri="{BB962C8B-B14F-4D97-AF65-F5344CB8AC3E}">
        <p14:creationId xmlns:p14="http://schemas.microsoft.com/office/powerpoint/2010/main" val="1831836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D89E3-F452-49E3-A0C2-E7B01B40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BELGE VE ONAM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85BE3-E533-4309-8C37-C7194973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İzin metninden imzalı dosyaya izlenebilir zincir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8B380-612D-4A04-8612-0E38C0A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Öğrenci ve veli onamları için ürün içinde şablon, tablet imzası ve dosyalama akışı bulunur.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2A9C1-1A26-486B-A567-C1D942B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12B22-357C-4390-A91E-2181106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C8370-7AE7-45F4-8774-3E1D9768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6C93C-F55C-48EE-91E1-D0ACC880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50673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ba31df648c4022"/>
          <a:srcRect xmlns:a="http://schemas.openxmlformats.org/drawingml/2006/main" l="8919" t="0" r="89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752600"/>
            <a:ext cx="4953000" cy="3390900"/>
          </a:xfrm>
          <a:prstGeom xmlns:a="http://schemas.openxmlformats.org/drawingml/2006/main" prst="roundRect">
            <a:avLst>
              <a:gd name="adj" fmla="val 39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D302A-3F98-49BF-B1E0-AF56EB3B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695450"/>
            <a:ext cx="506730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b7a3a12694625"/>
          <a:srcRect xmlns:a="http://schemas.openxmlformats.org/drawingml/2006/main" l="8919" t="0" r="89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752600"/>
            <a:ext cx="4953000" cy="3390900"/>
          </a:xfrm>
          <a:prstGeom xmlns:a="http://schemas.openxmlformats.org/drawingml/2006/main" prst="roundRect">
            <a:avLst>
              <a:gd name="adj" fmla="val 393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49242-CE61-41FA-B494-C615DB91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710ED-2E23-461E-9604-41F6F8AA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2DB5B-4729-47B8-9476-41A790D7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Şablon / 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1DE107-4D00-459B-BB87-9ECC85C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7E560-FEBE-46EB-8D31-00F28252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B04F9-3626-4005-8EB4-4DF4CCFE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89C22-5A9C-4591-BF87-F9AF45E7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Tablete gönderim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BAFF3-0C8D-43E5-A756-E768E7FD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61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4A9C3-D317-4EAE-B2E1-80FDCD0B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F87E16-9174-47EF-84C4-E2CDF074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C44F8-3A6A-495A-A8A8-F1B70F9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İmza kaydı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30E35-92CB-4AB0-92A9-95B66061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811A9-2969-49DB-B76C-F44A657A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245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CAA79F-5DCA-47A8-BFA4-AF8EF18B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6197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391B8B-747B-4397-9724-3A87153B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1022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Logolu PDF + dosya</a:t>
            </a:r>
          </a:p>
        </p:txBody>
      </p:sp>
    </p:spTree>
    <p:extLst>
      <p:ext uri="{BB962C8B-B14F-4D97-AF65-F5344CB8AC3E}">
        <p14:creationId xmlns:p14="http://schemas.microsoft.com/office/powerpoint/2010/main" val="17124781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93CCC7-4A0D-49D5-8615-0B0B5B0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ÖNERILEN ENTEGRASYON MIMARISI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21222-4462-4452-B3F4-BB297E32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7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resmî kaynak olarak kalır; SchoolAsist kontrollü operasyon yürütür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11B7D-DE41-44A7-AF48-F13E0ECE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servis, veri sözlüğü ve güvenlik gereksinimleri MEB teknik çalıştayında netleştirilmelidir.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E046F-F245-49E2-8BEB-7AA1A5CA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E708B-6C4C-4874-BB1F-5C3DA7C4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9E6D5-49F5-4EFA-9B50-F9D336B0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A1421-42A2-424F-B106-A21CEA4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B64B8-42D8-4C80-95EA-5FB5C909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7239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PİLOT KAPSAMINDA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2C689-6D38-4A5B-8EC6-BA3FEEED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C4FDF-5943-4AEC-8D9F-47C69E85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A279F-E115-424D-BDEE-B6092FBE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FEF45-AEB4-45CF-9925-AF389D0D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36340-BA30-453C-A050-A5D42817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kayıt kaynağı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3DE79-2CB1-43A8-82D4-090A328F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97C09-8D2D-42D6-88CF-98FA85A8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955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E7ACA-BCA2-4B58-A75B-04C5448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9C81DB-6690-41D3-BA96-E572629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B443D-23C9-4B03-B942-341DE9E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API / adaptör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3E9BB-5505-4FE8-9B99-2D4E3F47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Kimlik · yetki · oran sınırlama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EA8F81-2B25-45C5-93D1-75EDE908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99781-833B-4CB2-96B7-21459932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B9D15E-D5D2-467A-82E7-797FA2EB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D8347D-C8CD-4583-B366-773D709C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1F798-7238-43FF-97CC-2F6F5AB5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86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Hazırlama alanı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886354-E515-4E68-9D03-F50EFF2B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Şema · veri kalitesi · kapsam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01C31-640D-470C-B153-88ED5D4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378951-1732-4D45-99CC-0B01BA10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955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4C6D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37EE2-61CA-4960-84C0-6F11A19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4C6D8"/>
          </a:solidFill>
          <a:ln xmlns:a="http://schemas.openxmlformats.org/drawingml/2006/main" w="0">
            <a:solidFill>
              <a:srgbClr val="54C6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3EFAE2-2600-4625-86F4-86D02E00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0213D3-A993-4DBA-96EA-7C1362E5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Mutabakat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E6C5A-7E3B-4485-B475-E413E9D8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İşlem günlüğü · hata kuyruğu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62042-A5AE-4319-AE27-08365C18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0325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278D52-935F-42D0-93D7-62728E02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600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9D1F5C-D8D9-4699-98E0-276B1C1A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66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2E4C22-6A45-41D5-B54A-1F1AC27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14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9CCA5D-4239-4B5A-8A34-7C217269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BE0B1-1B2D-422D-A06A-A4D036B7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718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Rol ekranları ve iş akışı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EC31BC-1CFC-4D68-913D-AABB7798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10477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CDC6BA-A4CB-49E7-85C2-7FD97FD3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ZORUNLU KONTROLLER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D8BF4-3AAF-4C62-8358-0B5CE1D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F712AA-1184-4070-A3D5-F32EDD1E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7317DE-8703-493C-8542-065B453A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38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Alan eşleme sürümü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C94434-6AC9-42D6-84F3-2C730B64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4BA457-8EF4-4F38-9EBE-EF4E7F7D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B1BC21-740E-4840-864F-4C2B0506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38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İdempotent işlem anahtarı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139236-7196-4B0A-8DCE-EBBF0AE1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608DB8-46E8-4DFC-A35D-0AACCAC0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83AA87-08F2-419B-99AE-1D360109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Kurum/şube kapsam doğrulaması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28BE59-14C8-43DF-A8E9-DD0209CD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9B055C-E946-41C4-912B-2C13022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62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816355-3FE0-4BEB-ADEF-55181793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815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Başarısız kayıt kuyruğu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9DA9B1-6028-4AE5-A431-5E5CD92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F1933E-4C4A-4978-B3A7-AB0F3E8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62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19075C-39D3-46E5-B93B-197FA66A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815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Çift yönlü mutabakat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712C30-C9F6-4B68-892A-7C31C2C7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DD1A97-8205-423E-8912-134588E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62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BC2A9E-B2EB-4186-A9A2-46AF6321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8157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Değiştirilemez denetim izi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F95EDC-8D8F-4EBA-9385-17E7F8A5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Barındırma, veri yerleşimi, kimlik doğrulama ve servis yetkilendirmesi MEB’in belirleyeceği güvenlik mimarisine göre uygulanır.</a:t>
            </a:r>
          </a:p>
        </p:txBody>
      </p:sp>
    </p:spTree>
    <p:extLst>
      <p:ext uri="{BB962C8B-B14F-4D97-AF65-F5344CB8AC3E}">
        <p14:creationId xmlns:p14="http://schemas.microsoft.com/office/powerpoint/2010/main" val="15410766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CBDFA9-E586-4BC7-81BD-CA8B3CE7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İŞLEM GÜVENLIĞI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26655-C6B8-48A1-8550-EF8C0450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Her senkronizasyon kaydı aynı yaşam döngüsünden geçer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F95EC9-FB0B-4B68-9607-8187D997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Başarı kadar başarısızlığın yönetimi de tasarımın birinci sınıf parçasıdır.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B0C2E-7191-4168-8618-86B9772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B1418-723B-49BB-907D-A90C1A09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25603-7D09-4D22-9485-904B441A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49973-64C7-49DF-83F9-AFB79284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005DA-F3EB-4531-91AF-D13CB87B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B1856-DD3E-4E89-8CED-3B3A7767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D6C76-3823-4E97-9B3E-6D52031F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kaynaktan kayıt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71525-4190-4EE0-A0DE-D26A981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F33A0-47A8-4B62-93BF-ED9B1548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CF49C-06B7-4F0D-956B-1FDE8348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F7EC6-1393-470F-9B04-94688D16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Doğrula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29D4B-BB8A-4B62-AFE5-4DCA73DB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Şema ve zorunlu alan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2AA71-A626-42F4-B495-972812E1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66F60-DD8E-4016-950C-F69A8CD6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ED7C9-7408-437A-9ACE-887516F3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A2284-644F-4355-8EE3-FD8E4915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Kapsamla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75EC0-DF9B-4D44-BB5D-22BAB5E4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Kurum, şube, 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B0F85-6756-4A66-BA0C-C70B39EE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798EE-3B43-4B52-BEE3-029CBB75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4C6D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99F6B-74A6-447F-A2B5-3E7F07EA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4C6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C6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D100F0-03BE-4C72-BF62-EE297BBB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Kuyrukla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31943-E37F-409E-AD22-3EEF4A68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Tekrarsız işlem anahtarı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2AAA9B-22AD-458A-8F21-C6AA9084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20A32A-9E61-460B-BAC3-9FCB1459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860A8-04A4-4C83-93C4-DA735771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3B201-3E0D-4425-A2C4-F2A9627B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Yaz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D5676-8EBE-4A1A-BC3D-EF3DB4E6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Yetkili hedef servise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AAE76-1CFA-4DAF-BCAE-45750BC0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43175"/>
            <a:ext cx="2095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315FC-EB55-4DEB-9658-E65CCA05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43100"/>
            <a:ext cx="1638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FB93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2D9271-7D9D-4994-AF31-5A6C0246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14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D64C59-A0DD-4295-A1DD-C9F5736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33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Mutabık kal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D8303F-1DA0-4B3C-89E7-3BB0ED8E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9146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Sonuç ve kaynak izi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9503E-FD50-4428-B097-DF74AD30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10325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19050">
            <a:solidFill>
              <a:srgbClr val="FF6B6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AD5138-122E-42FD-A2D8-B3C8482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9525">
            <a:solidFill>
              <a:srgbClr val="FF6B6B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D5F777-5EC7-4415-BC90-7D3CF4D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4815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HATA HATTI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5EC458-EF03-408C-B951-CAD616E9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Otomatik tekrar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502939-0084-43F5-814A-AF17CC8A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Geçici bağlantı ve zaman aşımı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055C0C-25B2-44EB-B9CE-8FCCA844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İnsan incelemesi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D7573C-16AD-4E29-8D1E-83EA48D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Alan eşleme ve iş kuralı hatası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819D9C-60AE-4E03-835D-B0635D9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Geri alma / telafi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D6E75A-D217-4EEB-9FB0-68C869E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Kısmi başarı ve tutarsızlık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75A15D-BA17-4825-A859-DEEEC407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86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Raporlama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33E59B-494A-41CE-BEF8-3334222E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72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Neden, zaman, sorumlu, sonuç</a:t>
            </a:r>
          </a:p>
        </p:txBody>
      </p:sp>
    </p:spTree>
    <p:extLst>
      <p:ext uri="{BB962C8B-B14F-4D97-AF65-F5344CB8AC3E}">
        <p14:creationId xmlns:p14="http://schemas.microsoft.com/office/powerpoint/2010/main" val="10777118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12A348-96F5-46EA-81B6-D2046016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KARŞILAŞTIRMA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B95F5-D46A-4CD2-9575-F9B99209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ve SchoolAsist — akademik ve entegrasyon yetkinlikleri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51909-A381-44D7-B5D9-0DC16324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Karşılaştırma, kamuya açık K12NET tanıtım dokümanı ve SchoolAsist proje kanıtları üzerinden hazırlanmıştır.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6A9B7-EDA9-423A-A0EC-3653E9B8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9681C-A554-4634-9626-796AFABA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8584C-5E40-431E-AA43-DD4D4359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B1A79-BC3D-49CF-9209-A95B38FF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90468-2EB6-484D-8123-13E76099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KABİLİYET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89B9E-FF4D-4899-805B-0B9BF6B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990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31638-1690-4D20-8B9B-C66E8F10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192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— KAMUYA AÇIK BİLGİ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6EB4C-607D-466F-8274-B3774984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3028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4579B1-C6CB-498C-A2C7-8DEF86D0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1927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— BUGÜN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B6CAB-D5AA-4357-B66E-2FE04A7D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305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C892A-8BE7-4477-947A-B018334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19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PİLOT / FAZ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430E4-5243-46AC-AB27-B7B9124D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2187E-983E-403B-99EE-C8F7B608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A5954-DF73-4E2E-8AF9-A5CEC75C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E85CE-3A26-4DB1-9EC6-78570019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BDFB1-F8E9-43D3-9314-978D88E4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e‑Okul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13D16-E8F9-4531-A761-95DA0519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Temel veriler tek yön; not/devamsızlık çift yön aktarım beyanı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95E12-796B-45F3-AAC1-22623E6B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Henüz e‑Okul bağlı değil; MEBBİS iş merkezi deseni mevcut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5ED2B-B5CE-4925-A57E-ADC43F7A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1 — adaptör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AADBB4-8F5F-4FCD-8E2D-83C5BD7B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D5785-ACFF-41A3-A712-A034CE06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90817C-B49D-433B-AE2A-6E8903D7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48B200-0B0B-46E2-96EC-A13255C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AA274-7575-4C65-A322-574227A3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Ölçme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83B19-10F7-490C-B1EC-DFDDFE59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28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Optik, online, açık uçlu/rubrik ve kazanım analizi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68DACE-BC87-498C-8C08-888F15BE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Online sınav, soru bankası, sonuç ve raporlama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8DB25C-B4C7-42D9-8DCA-42FB5415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2 — optik/kazanım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0CC0F-5A71-4DCB-9C24-B7A1DB5D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32A139-567C-47DA-BC5E-CA4F2320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F7F8F4-401A-4409-BF8B-96B65D67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79630F-D947-4F0C-974D-5F5D1DE2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766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18824B-EE6A-41A4-9B7C-D0B24A1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Not defteri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4B8271-257B-4016-8F2B-24852F9E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e‑Okul düzeni, ağırlıklar ve yıl sonu hesapları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7F300D-16E2-4EC8-9D84-03F84FE9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Not girişi ve sınav iş akışı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BCC160-7DC1-477E-986A-B8F2571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2 — parite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F423E4-0EE3-4438-8C79-B030612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33AC4D-F3DE-4E23-9F21-E768C2B0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1B3BCF-2999-4A8E-961D-D6410D2E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2A5D1E-458D-4CDF-AE29-F154A18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7B0C31-B6DB-4E67-8438-323E95EF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Yoklama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EBDC45-7B30-477F-93B2-363CEA00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Günlük/ders, bildirim ve e‑Okul aktarımı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6C4272-DB97-4C57-9C30-3DB8F10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QR kiosk, mobil doğrulama ve rol ekranları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453916-24DD-4C32-A8A6-7F4B087E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1 — senkron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98ED21-DD1B-4477-AA1D-7044FD0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ACC20A-5F21-4FF3-9A15-967C3D4C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6AA926-71E4-4637-9CD5-6FFE254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C79E69-FE5C-4A30-BEDC-740213A7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E23399-E322-4912-8003-D158C0E4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Sınav organizasyonu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9F297C-F9C9-4059-9984-D0CD076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Kelebek oturma, optik form ve yayıncı sınavları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015B5B-1F7E-42A2-8C7B-828C5E41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Dijital sınav oluşturma ve çalışma alanı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59FE4A-A9FF-4B2F-B762-2288309C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Faz 2/3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4B7697-EAE4-4B4C-A8DC-A0C788F2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K12NET bilgileri sürüme ve kurum yapılandırmasına göre değişebilir; teknik doğrulama satın alma/pilot öncesi ayrıca yapılmalıdır.</a:t>
            </a:r>
          </a:p>
        </p:txBody>
      </p:sp>
    </p:spTree>
    <p:extLst>
      <p:ext uri="{BB962C8B-B14F-4D97-AF65-F5344CB8AC3E}">
        <p14:creationId xmlns:p14="http://schemas.microsoft.com/office/powerpoint/2010/main" val="1206814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D03691-F5B3-450E-8182-A4FCEAD0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KARŞILAŞTIRMA 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2D1D0-2152-4335-B201-43325B6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ve SchoolAsist — operasyon ve kullanıcı deneyimi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05F90-AE28-4236-8190-8D3A9D76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SchoolAsist’in avantajı bazı alanlarda kapsam genişliği değil; akış sadeliği ve modern operasyon tasarımıdır.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90C3D-70DD-4FCA-96A2-80F401D8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B7CB1-FF46-4925-B905-C1EA8D84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72C1F-4C4F-432D-9E37-1310A56B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8FD41-FBCA-4747-A68C-AA322223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DD6C1-D422-4F76-9D07-6868FCE4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KABİLİYET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F7C56-B169-4567-A2AE-A3EF2B14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990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320B5-7990-46B9-BFBA-8FE8EF50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192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K12NET — KAMUYA AÇIK BİLGİ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269926-FF3E-45ED-9C3C-B9A48B35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30289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E37F8-8AAE-4ABE-AB66-641C5628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19275"/>
            <a:ext cx="2800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— BUGÜN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1C23D-55E3-4962-B065-A479F6DF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95450"/>
            <a:ext cx="2305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259CB-34F0-4016-950D-39574A99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19275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DEĞERLENDİRME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817EA-D6E7-4675-95A4-75991EA5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0DAA6-C3F3-486E-9DDA-7BAE8EC1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03B895-4499-4EC5-8D25-0FF7BFE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FBD64-A055-412B-8214-FE9C4C9F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6A211-0988-4816-983E-E42947C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Rol portalları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3290B-4E4F-49C7-8A83-CA681350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860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Öğrenci, veli, öğretmen ve personel portalları; yetkilendirme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8BB80-1009-44C3-AAB4-5E640DA2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Rol + tenant + şube kapsamı; role özel modern panolar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F36C0-9BAC-44E9-8094-651AFD0B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SchoolAsist farkı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A3FC1-653E-440A-B035-3AB39AB2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4331E-2581-42BA-AFBC-7D8683A4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344F7-E658-4308-8C5E-80D5627B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81724-34FC-4E57-B48E-9771130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337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0533D2-A738-4BE2-8953-19F02C95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Öğrenci gelişimi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450A7-52B3-4708-85A5-EE252224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289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Sınav/kazanıma göre etüt ve sonuç analizi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2AB0D3-1B91-46CC-8B6E-A3278966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Çalışma planı, hedef, seri, XP/rozet ve öneriler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4E0E0-014F-468F-B8AB-E5D5F006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05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Tamamlayıcı güç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4D0CE-A101-43BB-BE23-5D231CCA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DBDB8B-BF19-456E-8DCF-EE9CE53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766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BE5350-F012-4470-B033-0D5868F0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5B34B3-63DD-4C73-9054-4B87B9FD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766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B9EB03-C441-4179-8022-210B598D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Onam / imza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BC7B68-3A20-4779-AA58-BF44A8A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Dokümanda iletişim ve kayıt süreçleri geniş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CB12F0-59E2-4CB6-A2C8-FF9399EE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Tablet imza istasyonu, onam şablonu ve PDF dosyalama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BFAB3B-A857-4BE6-832B-A09C216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481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SchoolAsist farkı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4873D6-0C7B-4570-861D-0DD66302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11F446-6733-49CF-BEDA-5874BA0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1960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6285B4-6F92-46A7-B457-320D3F32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2CECD2-6B59-40DA-ACCE-B233E45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1960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C1A31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9EBD62-A332-447E-8C59-257838B3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Operasyon genişliği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F2D477-5081-4D35-9054-AD479472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Sağlık, PDKS, stok, e‑ticaret, kulüp ve anket gibi olgun modüller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38D222-9A0E-48FB-8116-3CB57D4C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Servis, yemekhane, kütüphane, görev, finans ve iletişim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89594F-10B2-4D35-95B9-EBDDA01C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5910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K12NET olgunluğu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360C8E-B388-4178-9E4B-4391A56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ADE8EE-81A1-44E5-B7B7-B8A99B61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299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852F15-1B21-43C6-9A4E-C19DAE52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3028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8DE61E-5792-438F-858E-15D21C0E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62550"/>
            <a:ext cx="2305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0241CC-988E-4B18-982E-1CB29AEA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Sürücü kursu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9CEEEC-BA60-4B3E-AE2E-2C2791C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Kamuya açık genel broşürde ana odak değil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089A1F-F1A2-4168-8CBF-C582703A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EAF0F8"/>
                </a:solidFill>
                <a:latin typeface="Arial"/>
                <a:ea typeface="Arial"/>
                <a:cs typeface="Arial"/>
              </a:rPr>
              <a:t>MEBBİS iş merkezi, dönem, evrak, sınav ve sertifika akışları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F82AF7-7EE4-4A87-8317-72A430C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340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SchoolAsist uzmanlığı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AC00C7-FDA1-4421-A3B2-5061B9BD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980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Stratejik sonuç: K12NET’in olgun parite alanları açıkça planlanmalı; SchoolAsist’in rol, şube, QR, onam ve MEBBİS akışları korunmalıdır.</a:t>
            </a:r>
          </a:p>
        </p:txBody>
      </p:sp>
    </p:spTree>
    <p:extLst>
      <p:ext uri="{BB962C8B-B14F-4D97-AF65-F5344CB8AC3E}">
        <p14:creationId xmlns:p14="http://schemas.microsoft.com/office/powerpoint/2010/main" val="13850569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0BB00E-048F-46D4-8182-9B924E5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FAZLANDIRILMIŞ GELIŞIM PLANI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7171D-D8E8-4D00-89C0-6A12F422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“Eksik özellik” değil, kontrollü parite ve ölçekleme programı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808E0-6C08-4C8E-8AE9-76876F28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Her faz; tanımlı kapsam, kabul kriteri ve üretime geçiş kapısı ile yönetilmelidir.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B605D-C41E-42E3-A1A0-0E2C51AC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D0B53-AE62-4F52-BA45-5F37E5B1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70535-D379-4D61-AC35-968E8F52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46DB6-9AAF-4194-9295-0F8CE3D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76600" cy="3962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D2A57-2746-468C-B24A-899A96C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4E227-06E1-4A4F-8599-2E6766B5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FAZ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5872A-CAFB-4BB4-B549-2CAA6A84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e‑Okul pilot çekirdeği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6F8BE-92C7-48B6-9A77-BFD0010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56B2F-EE0C-4FB1-BEF4-0FF2E270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664B4-1235-4238-84A7-4B51C7C9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718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Veri sözlüğü ve alan eşleme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A1D5B-2065-4382-9C85-81C20CD7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D67A24-F7F4-40C7-B933-670C2596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2D656-545F-4842-9B46-E795135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Kimlik / yetki modeli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8C8186-D203-45B6-B1C3-6F05CDB9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21B42-975C-4371-9E5D-5277B362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F4A99-DC25-48A8-B711-EACCA380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862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Öğrenci-sınıf-ders senkronu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57723-99BD-4860-A890-4E00C5BA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C8C12-5E60-44B8-8140-9A0D7D0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8004E-8CD8-4B68-86A7-7FDBA0FF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3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Yoklama/not pilot akışı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AE055-CB31-4461-87B0-384B30B4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F22A9-23A4-409E-B232-D42B5E4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01C24-F5EE-4D3C-90DC-3ABDD1CB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00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Kuyruk, log, mutabakat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1D9A59-FA04-4363-8E16-9E859583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52600"/>
            <a:ext cx="3276600" cy="3962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F8C744-55D6-43CB-AC8D-2ACC0D3C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621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2B3BE-0310-4319-BF1B-268009C8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FAZ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BA0932-755C-4D36-8BB5-BD862785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Akademik parite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847E1-97EC-4EF9-BC34-7306E055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3CB654-1790-434A-8734-E54D2D55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52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9EB1A-4AC8-4123-B4F4-14EE430F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718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Optik sınav içe aktarımı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F32E7-1F41-4858-AA38-9C0D2763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5E74D-DFD7-4690-AFA4-0803C990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9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A2F23A-AC49-4658-961B-0C3F33F9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Kazanım bazlı analiz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D99453-028A-48E3-B824-455C8AC4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9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69933F-7C1A-4998-B0C4-C12B016C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67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CC965-8229-4C12-B271-53F49C4D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862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Gelişmiş not defteri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629AA-45AB-4187-A546-0F37B484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60C76B-B673-499E-A2F2-CBBD4A83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24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1B662F-62BA-4B7A-A4AA-6D9B1F03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43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Kelebek oturma ve sınav belgesi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EBC1D8-7194-4878-9A2B-192619CD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33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CE241D-53B1-4918-A59E-C465A140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1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6DBECE-E28C-4559-B873-9B0FB09E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00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Otomatik etüt önerileri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AA91C94-6E25-42D4-8054-D18A8FB4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752600"/>
            <a:ext cx="3276600" cy="3962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D07A7E-68A7-4D6C-8819-C540D624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B52084-15F3-4DCB-96CA-51112D82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FAZ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DD5A2C-C980-485D-A501-640C5AA6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0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Kurumsal ölçek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10FAEF-098B-457B-913F-820113F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91DF64-8824-4F24-B96F-74C9F84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527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A31FF0-8D20-4CCD-863B-D7E3C06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Sağlık / envanter derinliği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4C8B41-890E-4DF7-B1B8-5B19B1F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62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7A9269-A12B-4FF3-ADB9-57CED669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09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91C882-67AB-4909-9E9A-312CC0B4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PDKS ve dış donanım seçenekleri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6350A7-5C71-487D-9A02-659678B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A4461D-B67D-4900-AB53-3DC6714B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671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046269F-0430-4F0A-B5BF-1768A2B8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Mali entegratör paketleri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B29A3F-88E4-475E-AC60-FE34A70D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D1AB7E-FD58-409A-942E-609E28CB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243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BC51952-7796-4EC8-920F-31C104E5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434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LGS/YKS tercih iş akışları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E278EF-94A8-462B-80CE-091D99ED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33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30B7F3-95A6-4F71-A3F8-2803F94B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81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EB3E11-EC6E-4CE3-81F0-C5C50B8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006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Gelişmiş rapor ve veri ambarı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CF9982-F951-47B4-9992-2565FFDB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Takvim ve öncelik sırası, MEB servis erişimi ve pilot okul ihtiyaç analizi sonrasında kesinleştirilir.</a:t>
            </a:r>
          </a:p>
        </p:txBody>
      </p:sp>
    </p:spTree>
    <p:extLst>
      <p:ext uri="{BB962C8B-B14F-4D97-AF65-F5344CB8AC3E}">
        <p14:creationId xmlns:p14="http://schemas.microsoft.com/office/powerpoint/2010/main" val="5644337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481D4D-F157-49B6-8871-5BD5D9B8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ÖNERILEN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FD835-14DF-46D5-A446-F9929414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12 haftada kontrollü doğrulama, ölçüm ve ölçek kararı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EDDF1-B2EC-4CDE-A60C-D648D1F4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Pilot yalnız teknik bağlantıyı değil; veri kalitesi, kullanıcı yükü, güvenlik ve yönetişimi birlikte test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0445C-2F43-4844-A019-DEFB8F14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4911-8CCD-4329-B3F6-42B6C91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DA277-AA38-46AE-B088-20B3DBC9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7936D-979B-434F-ABF4-E9440192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3173E-9D09-43D1-B73E-15CEAAA6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BDD2C-7030-436E-BEF6-FAEAE7FE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1–2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5A12F-AA21-42C3-B54B-E99C1FF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Keşif &amp; sözlük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1E2FE-394E-4D4B-9D14-E56AD1C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Servis erişimi, alan eşleme, rol ve kapsam matrisi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5F3EE-8E34-4822-A099-542C1772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FB323-CA72-4966-82DD-54443375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072C6-27BD-420B-B78A-1AC40B81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9525">
            <a:solidFill>
              <a:srgbClr val="5B8C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7DD06-6701-4854-A1F3-FEB3DFE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3–5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6E4C9-E988-4744-9984-9FEAC02B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Teknik prototip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1A5EB-CA9A-4FAE-B8ED-0505882F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Salt-okunur akış, hazırlama alanı, log ve hata kuyruğu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252E1-9370-40F7-8750-C1492339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E1D909-9687-45DD-8D79-9C5E903E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CFEC4-EFB6-451B-B49D-CEF19C74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9525">
            <a:solidFill>
              <a:srgbClr val="A879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D5BC11-7C16-4007-828A-A801FDA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6–8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B4B8AB-7CCC-460F-9807-E5AD6E09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Sınırlı okul pilotu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EDF3E4-FE2F-4FCC-8879-959ABCC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Seçili veri alanları, kullanıcı eğitimi, günlük mutabakat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AF4688-D3E4-4126-A802-BB5E271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2DF76-B78F-45D8-B11D-B65B9AA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4C6D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19A8B-9D27-40BD-B16E-9242333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4C6D8"/>
          </a:solidFill>
          <a:ln xmlns:a="http://schemas.openxmlformats.org/drawingml/2006/main" w="9525">
            <a:solidFill>
              <a:srgbClr val="54C6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09F3C3-0D7A-4E88-992F-9458E9CB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9–10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479E7-68A7-473F-B232-EE870FC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Doğrulama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1DB603-0300-47D2-87B4-8DE1063B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Yük, güvenlik, veri kalitesi ve geri alma senaryoları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FB6D2-0154-461E-9F81-4937DD5B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263"/>
          </a:solidFill>
          <a:ln xmlns:a="http://schemas.openxmlformats.org/drawingml/2006/main" w="0">
            <a:solidFill>
              <a:srgbClr val="29426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4C234D-5D90-4104-867A-29C8323C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20764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B62ADA-D950-45C3-A09C-9A473B2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933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9525">
            <a:solidFill>
              <a:srgbClr val="42C99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68CB3-E42C-4230-A4DE-11DDE7FA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28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HAFTA 11–12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4C9D0D-2095-49C3-92E9-E60E5F11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733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Karar kapısı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CAB65A-BC28-4212-9F93-B52C0E7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73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Kabul raporu, riskler, maliyet ve ölçekleme önerisi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F0FFA1-54C7-4702-927E-69EF62EE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112966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62A49"/>
          </a:solidFill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6A0E1D-4F70-4DF3-9DAA-7F74855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ORTAK YÖNETİŞİM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93C604-21CD-4666-B9FC-C49C1C03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MEB teknik ekip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6141A8-3D44-48AE-8566-53DC5CE6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Servis, güvenlik ve resmî veri sözlüğü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7F8761-41AA-47C6-989D-ABB8AC2E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Pilot okul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B2B651-51A1-40C2-AF9F-2E871167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Süreç sahibi, son kullanıcı ve veri doğrulama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4B8222-FC7B-468E-9320-86FF1CEC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SchoolAsist ekip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0FFFF4-F149-4CCB-82C2-69DDD554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Adaptör, ürün akışı, destek ve ölçüm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939F83-ECAA-4639-9537-DD648C32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Bağımsız kontrol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5D9EFE-E780-4334-B74C-D06F0A10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Güvenlik / KVKK / kabul testleri — gerekirse</a:t>
            </a:r>
          </a:p>
        </p:txBody>
      </p:sp>
    </p:spTree>
    <p:extLst>
      <p:ext uri="{BB962C8B-B14F-4D97-AF65-F5344CB8AC3E}">
        <p14:creationId xmlns:p14="http://schemas.microsoft.com/office/powerpoint/2010/main" val="12193332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2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8B7883-C3CA-4343-B1CF-32DABA8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93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B938"/>
                </a:solidFill>
                <a:latin typeface="Arial"/>
                <a:ea typeface="Arial"/>
                <a:cs typeface="Arial"/>
              </a:rPr>
              <a:t>KARAR ÖNERISI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F4B20-0EE1-4AB5-B050-EB015188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Bir sonraki adım: teknik çalıştay + sınırlı pilot yetkilendirmesi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0F190-4F30-4EAA-B318-31DF775F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Karar, pazarlama söylemine değil; ölçülebilir kabul kriterlerine dayanmalıdır.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60987-1638-4D0C-BC2C-61B479D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34150"/>
            <a:ext cx="11315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6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ABCA7-727A-4BB1-B421-BFC9054C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91300"/>
            <a:ext cx="457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MEB değerlendirmesine sunulmak üzere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50E5B-805A-4352-B64F-687EAD2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5817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FB0C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F7F56-47FB-44BF-AB82-27894F4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42C9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AE46E-E0EA-4D73-9E80-4A3C858B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2C99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C99A"/>
                </a:solidFill>
                <a:latin typeface="Arial"/>
                <a:ea typeface="Arial"/>
                <a:cs typeface="Arial"/>
              </a:rPr>
              <a:t>≥ %99,5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72C9A-34D6-41BC-BC72-DAE32DB4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Doğrulanmış kayıt senkron başarısı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3433BE-1BED-4F05-9444-7E151579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5B8C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8736E-1099-465C-A91F-5DAB2DD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8C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8CFF"/>
                </a:solidFill>
                <a:latin typeface="Arial"/>
                <a:ea typeface="Arial"/>
                <a:cs typeface="Arial"/>
              </a:rPr>
              <a:t>%100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420488-8953-4D4C-BE7A-B7FA09D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İşlem ve hata için denetim izi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66A8D-6A33-499E-B326-78EB34B9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5F36A-3F24-44CA-9CF7-EC2BA1B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BAA8C-4CAA-44F9-BD24-BC5D982C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Yetkisiz çapraz kurum / şube erişimi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1B23D-0BCA-4313-902E-BA02080E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0700"/>
            <a:ext cx="2571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13D"/>
          </a:solidFill>
          <a:ln xmlns:a="http://schemas.openxmlformats.org/drawingml/2006/main" w="19050">
            <a:solidFill>
              <a:srgbClr val="A879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67E24-7920-4AA6-9DB4-B7D34A79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879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79FF"/>
                </a:solidFill>
                <a:latin typeface="Arial"/>
                <a:ea typeface="Arial"/>
                <a:cs typeface="Arial"/>
              </a:rPr>
              <a:t>≤ 1 iş günü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2167D-0966-4713-B7F8-FECD3012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14600"/>
            <a:ext cx="222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Kritik mutabakat farkı çözüm hedefi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6F029-11BE-49EB-AD32-EDC8E733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Talep edilen karar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2C3054-0F7D-435C-A027-148B0B6A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80BAD-FD09-42A2-B95C-851C5F28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36988-B753-4F95-9531-A0F51970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1. e‑Okul teknik veri sözlüğü ve yetkili servis modelinin değerlendirilmesi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E27199-5EF0-4A76-8C06-34EF380F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B8CFF"/>
          </a:solidFill>
          <a:ln xmlns:a="http://schemas.openxmlformats.org/drawingml/2006/main" w="0">
            <a:solidFill>
              <a:srgbClr val="5B8C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816AA-2C55-43C1-BC0C-DFAD368F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28834-E04F-4D96-B240-4BDCDBD0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386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2. Bir teknik çalıştay ve güvenlik mimarisi oturumu planlanması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0397ED-D1B3-4FD0-9728-13726CE4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A879FF"/>
          </a:solidFill>
          <a:ln xmlns:a="http://schemas.openxmlformats.org/drawingml/2006/main" w="0">
            <a:solidFill>
              <a:srgbClr val="A879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67D6EA-CF44-4F14-8FF0-C01747DE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E5E2DA-14BD-4E30-920A-7A505877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3. Sınırlı sayıda kurum/şube ile pilot kapsamının belirlenmesi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22113A-74E5-414A-AC43-D4C9DEC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2C99A"/>
          </a:solidFill>
          <a:ln xmlns:a="http://schemas.openxmlformats.org/drawingml/2006/main" w="0">
            <a:solidFill>
              <a:srgbClr val="42C99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6C7FE1-6A4E-4DA3-AFB6-1533DD86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3307C4-F279-415D-8ED8-DD9B79E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F0F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AF0F8"/>
                </a:solidFill>
                <a:latin typeface="Arial"/>
                <a:ea typeface="Arial"/>
                <a:cs typeface="Arial"/>
              </a:rPr>
              <a:t>4. Ortak kabul kriterleri, sorumluluk matrisi ve karar kapısının onaylanması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D2D787-8570-495E-BB85-A5359D9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FFF3D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28AE3-F9CA-4028-BBE3-2E2BCAC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50B17"/>
          </a:solidFill>
          <a:ln xmlns:a="http://schemas.openxmlformats.org/drawingml/2006/main" w="9525">
            <a:solidFill>
              <a:srgbClr val="294263"/>
            </a:solidFill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8e0ba63944b08"/>
          <a:stretch xmlns:a="http://schemas.openxmlformats.org/drawingml/2006/main"/>
        </p:blipFill>
        <p:spPr>
          <a:xfrm xmlns:a="http://schemas.openxmlformats.org/drawingml/2006/main">
            <a:off x="9626234" y="3752850"/>
            <a:ext cx="1131031" cy="1143000"/>
          </a:xfrm>
          <a:prstGeom xmlns:a="http://schemas.openxmlformats.org/drawingml/2006/main" prst="roundRect">
            <a:avLst>
              <a:gd name="adj" fmla="val 11667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9CB6A4-16B9-4079-8E46-9C90B12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101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SchoolAsist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8190BD-20F2-4DB4-8CCD-0C28C952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35305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Pilotla doğrula.</a:t>
            </a:r>
          </a:p>
          <a:p xmlns:a="http://schemas.openxmlformats.org/drawingml/2006/main">
            <a:pPr algn="ctr">
              <a:defRPr sz="1050" b="1">
                <a:solidFill>
                  <a:srgbClr val="0712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71225"/>
                </a:solidFill>
                <a:latin typeface="Arial"/>
                <a:ea typeface="Arial"/>
                <a:cs typeface="Arial"/>
              </a:rPr>
              <a:t>Ölç. Güvenle ölçekle.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9BCFB8-ED19-4426-A0FC-F455EB37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FB0C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FB0C7"/>
                </a:solidFill>
                <a:latin typeface="Arial"/>
                <a:ea typeface="Arial"/>
                <a:cs typeface="Arial"/>
              </a:rPr>
              <a:t>Önerilen eşikler pilot başlangıcında MEB ile birlikte kesinleştirilir.</a:t>
            </a:r>
          </a:p>
        </p:txBody>
      </p:sp>
    </p:spTree>
    <p:extLst>
      <p:ext uri="{BB962C8B-B14F-4D97-AF65-F5344CB8AC3E}">
        <p14:creationId xmlns:p14="http://schemas.microsoft.com/office/powerpoint/2010/main" val="1371999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2026-09-04T16:49:15.2770000Z</dcterms:created>
  <dcterms:modified xsi:type="dcterms:W3CDTF">2026-09-04T16:49:15.2770000Z</dcterms:modified>
</coreProperties>
</file>