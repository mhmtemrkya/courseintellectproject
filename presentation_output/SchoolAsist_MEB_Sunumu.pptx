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760a7ce8204445" /><Relationship Type="http://schemas.openxmlformats.org/officeDocument/2006/relationships/extended-properties" Target="/docProps/app.xml" Id="R07da9906e03c494f" /><Relationship Type="http://schemas.openxmlformats.org/officeDocument/2006/relationships/officeDocument" Target="/ppt/presentation.xml" Id="R692f5e8efb4a45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c4c4c5608b464e"/>
  </p:sldMasterIdLst>
  <p:notesMasterIdLst>
    <p:notesMasterId xmlns:r="http://schemas.openxmlformats.org/officeDocument/2006/relationships" r:id="Rfb67c9a6660b44c4"/>
  </p:notesMasterIdLst>
  <p:sldIdLst>
    <p:sldId xmlns:r="http://schemas.openxmlformats.org/officeDocument/2006/relationships" id="256" r:id="R926e943c5bb2407a"/>
    <p:sldId xmlns:r="http://schemas.openxmlformats.org/officeDocument/2006/relationships" id="257" r:id="R518da054ba45439d"/>
    <p:sldId xmlns:r="http://schemas.openxmlformats.org/officeDocument/2006/relationships" id="258" r:id="Rab088ccc257d45ac"/>
    <p:sldId xmlns:r="http://schemas.openxmlformats.org/officeDocument/2006/relationships" id="259" r:id="Rdc01c0f86dff4a78"/>
    <p:sldId xmlns:r="http://schemas.openxmlformats.org/officeDocument/2006/relationships" id="260" r:id="R73e93a06de7a460c"/>
    <p:sldId xmlns:r="http://schemas.openxmlformats.org/officeDocument/2006/relationships" id="261" r:id="R3772300d8de8405c"/>
    <p:sldId xmlns:r="http://schemas.openxmlformats.org/officeDocument/2006/relationships" id="262" r:id="R2c024e060d7049c2"/>
    <p:sldId xmlns:r="http://schemas.openxmlformats.org/officeDocument/2006/relationships" id="263" r:id="Re63275101bd14903"/>
    <p:sldId xmlns:r="http://schemas.openxmlformats.org/officeDocument/2006/relationships" id="264" r:id="Ra8328aec264743ae"/>
    <p:sldId xmlns:r="http://schemas.openxmlformats.org/officeDocument/2006/relationships" id="265" r:id="R93a951de52b24161"/>
    <p:sldId xmlns:r="http://schemas.openxmlformats.org/officeDocument/2006/relationships" id="266" r:id="R63891491e0044200"/>
    <p:sldId xmlns:r="http://schemas.openxmlformats.org/officeDocument/2006/relationships" id="267" r:id="Rb0b1888766a14afd"/>
    <p:sldId xmlns:r="http://schemas.openxmlformats.org/officeDocument/2006/relationships" id="268" r:id="Rbfaeb7fd53ca4641"/>
    <p:sldId xmlns:r="http://schemas.openxmlformats.org/officeDocument/2006/relationships" id="269" r:id="R255cc9b62e3f46c8"/>
    <p:sldId xmlns:r="http://schemas.openxmlformats.org/officeDocument/2006/relationships" id="270" r:id="Re98cf69873a44d07"/>
    <p:sldId xmlns:r="http://schemas.openxmlformats.org/officeDocument/2006/relationships" id="271" r:id="Rb99a1591755f44b6"/>
    <p:sldId xmlns:r="http://schemas.openxmlformats.org/officeDocument/2006/relationships" id="272" r:id="Rae3ddb5dba5f42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121e532d9f43a3" /><Relationship Type="http://schemas.openxmlformats.org/officeDocument/2006/relationships/slideMaster" Target="/ppt/slideMasters/slideMaster1.xml" Id="R46c4c4c5608b464e" /><Relationship Type="http://schemas.openxmlformats.org/officeDocument/2006/relationships/notesMaster" Target="/ppt/notesMasters/notesMaster1.xml" Id="Rfb67c9a6660b44c4" /><Relationship Type="http://schemas.openxmlformats.org/officeDocument/2006/relationships/presProps" Target="/ppt/presProps.xml" Id="Rfea199fb1ab1453f" /><Relationship Type="http://schemas.openxmlformats.org/officeDocument/2006/relationships/tableStyles" Target="/ppt/tableStyles.xml" Id="R41c5f92c25504dbe" /><Relationship Type="http://schemas.openxmlformats.org/officeDocument/2006/relationships/slide" Target="/ppt/slides/slide1.xml" Id="R926e943c5bb2407a" /><Relationship Type="http://schemas.openxmlformats.org/officeDocument/2006/relationships/slide" Target="/ppt/slides/slide2.xml" Id="R518da054ba45439d" /><Relationship Type="http://schemas.openxmlformats.org/officeDocument/2006/relationships/slide" Target="/ppt/slides/slide3.xml" Id="Rab088ccc257d45ac" /><Relationship Type="http://schemas.openxmlformats.org/officeDocument/2006/relationships/slide" Target="/ppt/slides/slide4.xml" Id="Rdc01c0f86dff4a78" /><Relationship Type="http://schemas.openxmlformats.org/officeDocument/2006/relationships/slide" Target="/ppt/slides/slide5.xml" Id="R73e93a06de7a460c" /><Relationship Type="http://schemas.openxmlformats.org/officeDocument/2006/relationships/slide" Target="/ppt/slides/slide6.xml" Id="R3772300d8de8405c" /><Relationship Type="http://schemas.openxmlformats.org/officeDocument/2006/relationships/slide" Target="/ppt/slides/slide7.xml" Id="R2c024e060d7049c2" /><Relationship Type="http://schemas.openxmlformats.org/officeDocument/2006/relationships/slide" Target="/ppt/slides/slide8.xml" Id="Re63275101bd14903" /><Relationship Type="http://schemas.openxmlformats.org/officeDocument/2006/relationships/slide" Target="/ppt/slides/slide9.xml" Id="Ra8328aec264743ae" /><Relationship Type="http://schemas.openxmlformats.org/officeDocument/2006/relationships/slide" Target="/ppt/slides/slide10.xml" Id="R93a951de52b24161" /><Relationship Type="http://schemas.openxmlformats.org/officeDocument/2006/relationships/slide" Target="/ppt/slides/slide11.xml" Id="R63891491e0044200" /><Relationship Type="http://schemas.openxmlformats.org/officeDocument/2006/relationships/slide" Target="/ppt/slides/slide12.xml" Id="Rb0b1888766a14afd" /><Relationship Type="http://schemas.openxmlformats.org/officeDocument/2006/relationships/slide" Target="/ppt/slides/slide13.xml" Id="Rbfaeb7fd53ca4641" /><Relationship Type="http://schemas.openxmlformats.org/officeDocument/2006/relationships/slide" Target="/ppt/slides/slide14.xml" Id="R255cc9b62e3f46c8" /><Relationship Type="http://schemas.openxmlformats.org/officeDocument/2006/relationships/slide" Target="/ppt/slides/slide15.xml" Id="Re98cf69873a44d07" /><Relationship Type="http://schemas.openxmlformats.org/officeDocument/2006/relationships/slide" Target="/ppt/slides/slide16.xml" Id="Rb99a1591755f44b6" /><Relationship Type="http://schemas.openxmlformats.org/officeDocument/2006/relationships/slide" Target="/ppt/slides/slide17.xml" Id="Rae3ddb5dba5f42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e9513b874f49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e5199134554ce5" /><Relationship Type="http://schemas.openxmlformats.org/officeDocument/2006/relationships/notesMaster" Target="/ppt/notesMasters/notesMaster1.xml" Id="Rf56e01189edf4f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8cbd24559e4180" /><Relationship Type="http://schemas.openxmlformats.org/officeDocument/2006/relationships/notesMaster" Target="/ppt/notesMasters/notesMaster1.xml" Id="R54df6acbcac24f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01752e6d7e4fcc" /><Relationship Type="http://schemas.openxmlformats.org/officeDocument/2006/relationships/notesMaster" Target="/ppt/notesMasters/notesMaster1.xml" Id="Rf8337d126f2c4c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9c5c1c14544a60" /><Relationship Type="http://schemas.openxmlformats.org/officeDocument/2006/relationships/notesMaster" Target="/ppt/notesMasters/notesMaster1.xml" Id="Rb604ba1056b141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7db9477df3434d" /><Relationship Type="http://schemas.openxmlformats.org/officeDocument/2006/relationships/notesMaster" Target="/ppt/notesMasters/notesMaster1.xml" Id="Raaa56d750ab442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a35f78ae974736" /><Relationship Type="http://schemas.openxmlformats.org/officeDocument/2006/relationships/notesMaster" Target="/ppt/notesMasters/notesMaster1.xml" Id="R258f54143cc944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66cd82ba1f43c9" /><Relationship Type="http://schemas.openxmlformats.org/officeDocument/2006/relationships/notesMaster" Target="/ppt/notesMasters/notesMaster1.xml" Id="Re3109956639540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f8f743bdac492e" /><Relationship Type="http://schemas.openxmlformats.org/officeDocument/2006/relationships/notesMaster" Target="/ppt/notesMasters/notesMaster1.xml" Id="R5db2425bcefc4e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df77c41a1c41e9" /><Relationship Type="http://schemas.openxmlformats.org/officeDocument/2006/relationships/notesMaster" Target="/ppt/notesMasters/notesMaster1.xml" Id="R67a702140a2249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669771974b4da0" /><Relationship Type="http://schemas.openxmlformats.org/officeDocument/2006/relationships/notesMaster" Target="/ppt/notesMasters/notesMaster1.xml" Id="R804c9fc1989241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966ed04eec4fa7" /><Relationship Type="http://schemas.openxmlformats.org/officeDocument/2006/relationships/notesMaster" Target="/ppt/notesMasters/notesMaster1.xml" Id="R3ebe6146704541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b9c45092964bb5" /><Relationship Type="http://schemas.openxmlformats.org/officeDocument/2006/relationships/notesMaster" Target="/ppt/notesMasters/notesMaster1.xml" Id="Reeebd227257445d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e2c033f9d2472e" /><Relationship Type="http://schemas.openxmlformats.org/officeDocument/2006/relationships/notesMaster" Target="/ppt/notesMasters/notesMaster1.xml" Id="R7ec089d5d9fd4e3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c84653699c94fee" /><Relationship Type="http://schemas.openxmlformats.org/officeDocument/2006/relationships/notesMaster" Target="/ppt/notesMasters/notesMaster1.xml" Id="R1e23626b8a7b472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890077b646643de" /><Relationship Type="http://schemas.openxmlformats.org/officeDocument/2006/relationships/notesMaster" Target="/ppt/notesMasters/notesMaster1.xml" Id="R5fd6b400384c4c2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6ad535b7fc74eae" /><Relationship Type="http://schemas.openxmlformats.org/officeDocument/2006/relationships/notesMaster" Target="/ppt/notesMasters/notesMaster1.xml" Id="Reb0913cc23754c9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a421981891b46a5" /><Relationship Type="http://schemas.openxmlformats.org/officeDocument/2006/relationships/notesMaster" Target="/ppt/notesMasters/notesMaster1.xml" Id="R567d89defcef41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amacı: SchoolAsist'in doğrulanmış mevcut kabiliyetlerini göstermek ve e‑Okul için kontrollü pilot entegrasyon önerisini sunmak. Bu sunum herhangi bir MEB onayı veya mevcut entegrasyon iddiası içermez.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Önerilen hedef mimaridir. e‑Okul'un resmî kayıt otoritesi olduğu yaklaşımı MEB'in e‑Okul tanımına dayanır. Kaynak: https://sgb.meb.gov.tr/meb_iys_dosyalar/2023_08/24152252_2023_Butce_Raporu.pdf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slayt problem hipotezlerini tanımlar; sayısal gerçekleşme iddiası değildir. Pilot başlangıcında mevcut durum ölçümü yapılmalıdır.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SchoolAsist proje kanıtları: backend/CourseIntellect.Domain/Permissions/SchoolModuleCatalog.cs; backend/CourseIntellect.Api/Controllers; desktop/src/App.js; backend/CourseIntellect.Domain/Entities/ConsentEntities.cs; desktop/src/pages/driving.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Görsel: presentation_workspace/screenshots/academics.png. Ekran yerel demo ortamından 04.09.2026 tarihinde alınmıştır; demo verileri temsili olup ürün işlevini göstermek içindir.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Görseller: presentation_workspace/screenshots/attendance.png ve kiosk-qr.png. QR oturum servisi kanıtı: backend/CourseIntellect.Api/Controllers/AttendanceQrSessionsController.cs. e‑Okul’a yoklama aktarımı henüz mevcut entegrasyon olarak sunulmamaktadır; pilot kapsamıdır.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Görseller: teacher-dashboard.png, student-study-plan.png, parent-dashboard.png. Yerel demo ortamından 04.09.2026 tarihinde alınmıştır. Görseller mevcut rol bazlı arayüzü kanıtlar.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Görsel: branch-selection.png. Proje rol ve kapsam kanıtı: SchoolModuleCatalog.cs, App.js ve yetki kontrollü controller yapısı. '0 tolerans' önerilen pilot kabul kriteridir, gerçekleşmiş test sonucu değildir.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Görseller: settings-consent-entry.png ve consent-forms.png. Varlık modeli kanıtı: backend/CourseIntellect.Domain/Entities/ConsentEntities.cs. KVKK açısından bu işlev tek başına uyum garantisi değildir; veri sorumlusu gerekli teknik ve idari tedbirleri belirlemelidir. Kaynak: https://www.kvkk.gov.tr/Icerik/2040/Veri-Guvenligine-Iliskin-Yukumlulukler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slayt önerilen hedef mimaridir; mevcut e‑Okul entegrasyonu değildir. e‑Okul tanımı ve kapsamı: https://sgb.meb.gov.tr/meb_iys_dosyalar/2023_08/24152252_2023_Butce_Raporu.pdf. KVKK teknik/idari tedbir ilkeleri: https://www.kvkk.gov.tr/Icerik/2040/Veri-Guvenligine-Iliskin-Yukumlulukler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Önerilen pilot işlem yaşam döngüsüdür. MEB teknik şartları ve erişilebilir servis modeli doğrultusunda ayrıntılandırılmalıdır.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K12NET kaynağı: https://dokuman.k12net.com/dokuman/genel/k12netpdf.PDF (özellikle e‑Okul, ölçme-değerlendirme, not defteri, devamsızlık ve sınav organizasyonu bölümleri). SchoolAsist kanıtları: App.js, ilgili akademik/öğretmen sayfaları, AttendanceQrSessionsController.cs ve mebbis-work-center.png. Karşılaştırma 'daha iyi' iddiası değil; mevcut/parite farkı analizidir.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K12NET kaynağı: https://dokuman.k12net.com/dokuman/genel/k12netpdf.PDF (portal/yetki, etüt, sağlık, PDKS, stok, alışveriş, kulüp ve iletişim bölümleri). SchoolAsist kanıtları: branch-selection.png, student-study-plan.png, consent-forms.png, mebbis-work-center.png ve proje kaynakları. 'Kamuya açık genel broşürde ana odak değil' ifadesi özellik yokluğu iddiası değildir.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yol haritası öneridir; teslim taahhüdü veya mevcut özellik beyanı değildir. Faz 2/3 kapsamı K12NET kamuya açık dokümanında görülen olgun parite alanlarından türetilmiştir: https://dokuman.k12net.com/dokuman/genel/k12netpdf.PDF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 haftalık plan öneridir; MEB servis erişimi, güvenlik değerlendirmesi ve pilot okul takvimine göre güncellenir. Bu süre bir sözleşmesel teslim taahhüdü değildir.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Tüm başarı eşikleri önerilen pilot kabul kriterleridir; mevcut performans sonucu değildir. KVKK güvenlik yükümlülükleri için: https://www.kvkk.gov.tr/Icerik/2040/Veri-Guvenligine-Iliskin-Yukumlulukler. e‑Okul sistem kapsamı için: https://sgb.meb.gov.tr/meb_iys_dosyalar/2023_08/24152252_2023_Butce_Raporu.pdf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İnceleme tarihi: 04–05.09.2026. K12NET: https://dokuman.k12net.com/dokuman/genel/k12netpdf.PDF</a:t>
            </a:r>
          </a:p>
          <a:p xmlns:a="http://schemas.openxmlformats.org/drawingml/2006/main">
            <a:r>
              <a:t>MEB: https://sgb.meb.gov.tr/meb_iys_dosyalar/2023_08/24152252_2023_Butce_Raporu.pdf</a:t>
            </a:r>
          </a:p>
          <a:p xmlns:a="http://schemas.openxmlformats.org/drawingml/2006/main">
            <a:r>
              <a:t>KVKK: https://www.kvkk.gov.tr/Icerik/2040/Veri-Guvenligine-Iliskin-Yukumlulukler</a:t>
            </a:r>
          </a:p>
          <a:p xmlns:a="http://schemas.openxmlformats.org/drawingml/2006/main">
            <a:r>
              <a:t>SchoolAsist: presentation_workspace/screenshots; backend/CourseIntellect.Domain/Permissions/SchoolModuleCatalog.cs; backend/CourseIntellect.Api/Controllers/AttendanceQrSessionsController.cs; backend/CourseIntellect.Domain/Entities/ConsentEntities.cs; desktop/src/App.js. Kamu sunumu öncesinde ürün sahibi, teknik ekip ve hukuk/veri koruma sorumlusu tarafından son içerik teyidi önerilir.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d16981a9a749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3c8d1e8f9c4297" /><Relationship Type="http://schemas.openxmlformats.org/officeDocument/2006/relationships/slideLayout" Target="/ppt/slideLayouts/slideLayout1.xml" Id="R8a0ee0a02a034d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0ee0a02a034d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b75c4304441fa" /><Relationship Type="http://schemas.openxmlformats.org/officeDocument/2006/relationships/image" Target="/ppt/media/image.png" Id="R506e320feccc42d5" /><Relationship Type="http://schemas.openxmlformats.org/officeDocument/2006/relationships/notesSlide" Target="/ppt/notesSlides/notesSlide1.xml" Id="Rb9ab4954634a4f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ce6a96dd147ef" /><Relationship Type="http://schemas.openxmlformats.org/officeDocument/2006/relationships/image" Target="/ppt/media/image2.png" Id="Ra633918ac1a14131" /><Relationship Type="http://schemas.openxmlformats.org/officeDocument/2006/relationships/notesSlide" Target="/ppt/notesSlides/notesSlide2.xml" Id="R5a75449eb6e848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fd3001a1d463a" /><Relationship Type="http://schemas.openxmlformats.org/officeDocument/2006/relationships/image" Target="/ppt/media/image3.png" Id="R0160aacab68c49d2" /><Relationship Type="http://schemas.openxmlformats.org/officeDocument/2006/relationships/notesSlide" Target="/ppt/notesSlides/notesSlide3.xml" Id="R36f0d773e1864d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03cddc50c4b65" /><Relationship Type="http://schemas.openxmlformats.org/officeDocument/2006/relationships/image" Target="/ppt/media/image4.png" Id="R4716408e31ce45e3" /><Relationship Type="http://schemas.openxmlformats.org/officeDocument/2006/relationships/notesSlide" Target="/ppt/notesSlides/notesSlide4.xml" Id="R4523b0e5936341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ffde5368f49c8" /><Relationship Type="http://schemas.openxmlformats.org/officeDocument/2006/relationships/image" Target="/ppt/media/image5.png" Id="R5f8c9e0e1eb94295" /><Relationship Type="http://schemas.openxmlformats.org/officeDocument/2006/relationships/image" Target="/ppt/media/image.jpeg" Id="Re726a8c8d6fa4daa" /><Relationship Type="http://schemas.openxmlformats.org/officeDocument/2006/relationships/notesSlide" Target="/ppt/notesSlides/notesSlide5.xml" Id="R56973ebc643d47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f503cde6b4247" /><Relationship Type="http://schemas.openxmlformats.org/officeDocument/2006/relationships/image" Target="/ppt/media/image6.png" Id="Rf0b4ee4bdc8e4a1f" /><Relationship Type="http://schemas.openxmlformats.org/officeDocument/2006/relationships/image" Target="/ppt/media/image2.jpeg" Id="R035c784f98ad48fb" /><Relationship Type="http://schemas.openxmlformats.org/officeDocument/2006/relationships/image" Target="/ppt/media/image3.jpeg" Id="Rb019d785edbf4cdb" /><Relationship Type="http://schemas.openxmlformats.org/officeDocument/2006/relationships/notesSlide" Target="/ppt/notesSlides/notesSlide6.xml" Id="Rb01598c341fb44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eec1b3f7c46cf" /><Relationship Type="http://schemas.openxmlformats.org/officeDocument/2006/relationships/image" Target="/ppt/media/image7.png" Id="Rfdbde3ce81a24c06" /><Relationship Type="http://schemas.openxmlformats.org/officeDocument/2006/relationships/image" Target="/ppt/media/image4.jpeg" Id="R50a74eea44014a23" /><Relationship Type="http://schemas.openxmlformats.org/officeDocument/2006/relationships/image" Target="/ppt/media/image5.jpeg" Id="Rf9ce845e95bd4f37" /><Relationship Type="http://schemas.openxmlformats.org/officeDocument/2006/relationships/image" Target="/ppt/media/image6.jpeg" Id="R70b5287ff65f4459" /><Relationship Type="http://schemas.openxmlformats.org/officeDocument/2006/relationships/notesSlide" Target="/ppt/notesSlides/notesSlide7.xml" Id="Rb2d37994f57f42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abee4ac744fd4" /><Relationship Type="http://schemas.openxmlformats.org/officeDocument/2006/relationships/image" Target="/ppt/media/image8.png" Id="R12500829a25a419d" /><Relationship Type="http://schemas.openxmlformats.org/officeDocument/2006/relationships/image" Target="/ppt/media/image7.jpeg" Id="R5350ae8b0019434c" /><Relationship Type="http://schemas.openxmlformats.org/officeDocument/2006/relationships/notesSlide" Target="/ppt/notesSlides/notesSlide8.xml" Id="R1caed4f378cc43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b555d7b6b4ccd" /><Relationship Type="http://schemas.openxmlformats.org/officeDocument/2006/relationships/image" Target="/ppt/media/image9.png" Id="Refa1cd25e3154fb1" /><Relationship Type="http://schemas.openxmlformats.org/officeDocument/2006/relationships/image" Target="/ppt/media/image8.jpeg" Id="Rf970b193ee4b4a63" /><Relationship Type="http://schemas.openxmlformats.org/officeDocument/2006/relationships/notesSlide" Target="/ppt/notesSlides/notesSlide9.xml" Id="Ra0e5241fa4dd4d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84b261e7645c8" /><Relationship Type="http://schemas.openxmlformats.org/officeDocument/2006/relationships/image" Target="/ppt/media/image10.png" Id="R00cbb0846c304064" /><Relationship Type="http://schemas.openxmlformats.org/officeDocument/2006/relationships/notesSlide" Target="/ppt/notesSlides/notesSlide10.xml" Id="Rfec701df2f924d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973f880fe4887" /><Relationship Type="http://schemas.openxmlformats.org/officeDocument/2006/relationships/image" Target="/ppt/media/image11.png" Id="R07463904c5894b34" /><Relationship Type="http://schemas.openxmlformats.org/officeDocument/2006/relationships/notesSlide" Target="/ppt/notesSlides/notesSlide11.xml" Id="R2e2fae7a49404c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6ddd950ea4a50" /><Relationship Type="http://schemas.openxmlformats.org/officeDocument/2006/relationships/image" Target="/ppt/media/image12.png" Id="R46281307af2f4aee" /><Relationship Type="http://schemas.openxmlformats.org/officeDocument/2006/relationships/notesSlide" Target="/ppt/notesSlides/notesSlide12.xml" Id="R2e528c0ee6ea47d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5418886d84095" /><Relationship Type="http://schemas.openxmlformats.org/officeDocument/2006/relationships/image" Target="/ppt/media/image13.png" Id="Rf2bf24c9cdee4cfe" /><Relationship Type="http://schemas.openxmlformats.org/officeDocument/2006/relationships/notesSlide" Target="/ppt/notesSlides/notesSlide13.xml" Id="Re7937602d3dc4f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4344e19b142d7" /><Relationship Type="http://schemas.openxmlformats.org/officeDocument/2006/relationships/image" Target="/ppt/media/image14.png" Id="R129b95a513cf4bb3" /><Relationship Type="http://schemas.openxmlformats.org/officeDocument/2006/relationships/notesSlide" Target="/ppt/notesSlides/notesSlide14.xml" Id="Rac62b5c6b8bf414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faa0587ce4d0f" /><Relationship Type="http://schemas.openxmlformats.org/officeDocument/2006/relationships/image" Target="/ppt/media/image15.png" Id="R2db07b4d9bdf4593" /><Relationship Type="http://schemas.openxmlformats.org/officeDocument/2006/relationships/notesSlide" Target="/ppt/notesSlides/notesSlide15.xml" Id="Rf954a8231d4c416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e629907c14ebc" /><Relationship Type="http://schemas.openxmlformats.org/officeDocument/2006/relationships/image" Target="/ppt/media/image16.png" Id="R5d43ede4453344b2" /><Relationship Type="http://schemas.openxmlformats.org/officeDocument/2006/relationships/image" Target="/ppt/media/image17.png" Id="Rac687479d5684052" /><Relationship Type="http://schemas.openxmlformats.org/officeDocument/2006/relationships/notesSlide" Target="/ppt/notesSlides/notesSlide16.xml" Id="R7faf5356b3df4f9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81715f5144111" /><Relationship Type="http://schemas.openxmlformats.org/officeDocument/2006/relationships/image" Target="/ppt/media/image18.png" Id="R1c5824ebc3ba4d00" /><Relationship Type="http://schemas.openxmlformats.org/officeDocument/2006/relationships/notesSlide" Target="/ppt/notesSlides/notesSlide17.xml" Id="R903c9d47cf754f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28DFBB-0B0B-489D-9C26-23F819C7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0EF45-51BC-49CB-B2DB-1C08F9B2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44767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0">
            <a:solidFill>
              <a:srgbClr val="1021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DA70E-C2EC-4E5F-8168-EBBA4A77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71500"/>
            <a:ext cx="2667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62A49"/>
          </a:solidFill>
          <a:ln xmlns:a="http://schemas.openxmlformats.org/drawingml/2006/main" w="0">
            <a:solidFill>
              <a:srgbClr val="162A4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9B2B3-4C3D-48EE-9174-086DDDBD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334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50B17"/>
          </a:solidFill>
          <a:ln xmlns:a="http://schemas.openxmlformats.org/drawingml/2006/main" w="9525">
            <a:solidFill>
              <a:srgbClr val="294263"/>
            </a:solidFill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6e320feccc42d5"/>
          <a:stretch xmlns:a="http://schemas.openxmlformats.org/drawingml/2006/main"/>
        </p:blipFill>
        <p:spPr>
          <a:xfrm xmlns:a="http://schemas.openxmlformats.org/drawingml/2006/main">
            <a:off x="613889" y="514350"/>
            <a:ext cx="810573" cy="819150"/>
          </a:xfrm>
          <a:prstGeom xmlns:a="http://schemas.openxmlformats.org/drawingml/2006/main" prst="roundRect">
            <a:avLst>
              <a:gd name="adj" fmla="val 1627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10125-6DF5-47F3-956C-025FAFD3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24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SchoolAsist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AC576-EE90-41C2-B038-6FD5B559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0001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OKUL YÖNETİM SİSTEMİ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B5BAB-8D0D-4580-BB8B-16543B50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04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e‑Okul Entegrasyonu</a:t>
            </a:r>
          </a:p>
          <a:p xmlns:a="http://schemas.openxmlformats.org/drawingml/2006/main">
            <a:pPr algn="l">
              <a:defRPr sz="360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ve Pilot Uygulama Önerisi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745E72-CBA7-40F0-97AF-FC270BBC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62350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Resmî kayıt otoritesini koruyan; okulun günlük operasyonunu hızlandıran, denetlenebilir entegrasyon yaklaşımı.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9D45B-DFF6-4D42-A3FE-0088D4F7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3333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FFF3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02EC5-DB1E-4203-930E-5D45F89C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318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MEB DEĞERLENDİRMESİNE SUNULMAK ÜZERE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CEB31-A82B-4B5F-91C7-63D8D545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05 Eylül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47B95-EE40-40F7-A079-08B77669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24000"/>
            <a:ext cx="3143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D43219-FA76-4FFA-B24D-7B430435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24000"/>
            <a:ext cx="47625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7BCEF7-C9CA-4830-9F61-FF90BA7F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695450"/>
            <a:ext cx="274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2C9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2C99A"/>
                </a:solidFill>
                <a:latin typeface="Arial"/>
                <a:ea typeface="Arial"/>
                <a:cs typeface="Arial"/>
              </a:rPr>
              <a:t>MEVCUT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C4F97-1013-4FE2-B9C1-BA931FEA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933575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Tek platform, çok 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E26639-52A0-4819-BEE6-336103BD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8600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Yönetici · öğretmen · öğrenci · veli · idari · muhasebe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279BD7-8546-478C-BADA-EA4ECC5B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95600"/>
            <a:ext cx="2667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B69028-48DE-4D39-A9A6-34AC1BA6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95600"/>
            <a:ext cx="47625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0">
            <a:solidFill>
              <a:srgbClr val="5B8C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743520-8FDF-4C90-A9D9-68CF1A94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67050"/>
            <a:ext cx="2266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C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8CFF"/>
                </a:solidFill>
                <a:latin typeface="Arial"/>
                <a:ea typeface="Arial"/>
                <a:cs typeface="Arial"/>
              </a:rPr>
              <a:t>MEVCUT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0F39A6-3E87-4929-8B4E-169070F6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30517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QR yoklama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C6A069-42C6-42EA-B0AC-06298A70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65760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Kiosk ve mobil doğrulama akışı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BDCABE-8390-42DF-BC5C-B6A53CB4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267200"/>
            <a:ext cx="3143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5C7570-36AB-4AB8-9EC4-76502C28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267200"/>
            <a:ext cx="47625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124472-2BB4-4104-9C5E-4D755331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438650"/>
            <a:ext cx="274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ÖNERİ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2F61A7-AAFF-46A5-95C6-A2DD9D87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676775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e‑Okul adaptörü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B9E022-52A7-4DE2-A77D-12DE2D36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02920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Doğrulama, kuyruk, mutabakat ve denetim izi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6B8487-20B1-451D-9853-2936B32C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076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SchoolAsist</a:t>
            </a:r>
          </a:p>
        </p:txBody>
      </p:sp>
    </p:spTree>
    <p:extLst>
      <p:ext uri="{BB962C8B-B14F-4D97-AF65-F5344CB8AC3E}">
        <p14:creationId xmlns:p14="http://schemas.microsoft.com/office/powerpoint/2010/main" val="16773184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C7294B-9CFE-4507-A03F-DDF74477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YÖNETICI ÖZETI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AE054-2EAE-4E4B-A730-D0366879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Öneri: e‑Okul otorite, SchoolAsist operasyon katmanı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8E9A1-445A-4EFE-973F-C8BB2F7E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Amaç sistem değiştirmek değil; mükerrer işi azaltan, ölçülebilir ve geri alınabilir bir pilot kurmaktır.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9A12F3-A386-49DE-A547-0FFC846A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BADCE-5A10-45F0-BB15-6077372F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MEB değerlendirmesine sunulmak üzere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33918ac1a14131"/>
          <a:stretch xmlns:a="http://schemas.openxmlformats.org/drawingml/2006/main"/>
        </p:blipFill>
        <p:spPr>
          <a:xfrm xmlns:a="http://schemas.openxmlformats.org/drawingml/2006/main">
            <a:off x="9526197" y="6562725"/>
            <a:ext cx="226206" cy="22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96D30-AF8B-4B2A-883D-4B1E242A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6103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SchoolAsist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54B35-1258-49B5-9C4E-69DAEEAF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81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1FCB0-FEED-4657-BB9A-C326ADD7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857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2414A-1402-4613-8D61-F3C658CC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9CCF8-2A08-4EE8-B457-0EB4A4D2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383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E‑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840CC-9D2A-4ABE-9B65-78DE397A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90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e‑Okul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89745-1B5C-4750-9182-AA821EF0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243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Resmî öğrenci ve okul kayıtlarının yetkili kaynağı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EEA040-A087-446F-897D-CF25C6CE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00250"/>
            <a:ext cx="2857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E0B3E1-22B5-4D4D-82E3-722C5AB4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0">
            <a:solidFill>
              <a:srgbClr val="5B8C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3B0BDA-C3EC-456C-AC55-B16A1A94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383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CA7652-9511-4968-9A1F-78705B19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90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Entegrasyon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5F63EC-4D5E-4361-A143-76F85FFB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67000"/>
            <a:ext cx="243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Şema doğrulama · kuyruk · log · mutabakat · hata yönetimi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2BBB82-C689-44C4-B3DC-EA6BDBFD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00250"/>
            <a:ext cx="2857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2191FB-ACA1-4076-B73B-9A6BF356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DA6F1D-057A-4047-AF30-C36DE08B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383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SC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3AC634-FE7F-4933-B70F-6885D0AD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90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SchoolAsist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5CBA34-C81B-4448-BF97-55BA5A84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67000"/>
            <a:ext cx="243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Günlük operasyon, rol ekranları ve kurum içi iş akışları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57FC08-40DF-46EC-8741-77E35D2E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24125"/>
            <a:ext cx="5143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938"/>
          </a:solidFill>
          <a:ln xmlns:a="http://schemas.openxmlformats.org/drawingml/2006/main" w="0">
            <a:solidFill>
              <a:srgbClr val="FFB93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5CD634-BB40-4EEA-B327-DC8B43FC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24125"/>
            <a:ext cx="5143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938"/>
          </a:solidFill>
          <a:ln xmlns:a="http://schemas.openxmlformats.org/drawingml/2006/main" w="0">
            <a:solidFill>
              <a:srgbClr val="FFB93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DFC6A9-8F61-428A-91F0-370BFAA6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49651C-151B-498A-99F6-EA728707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A3AC50-DC91-4150-BEF2-A9EEDC1C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4C0063-6E16-44B5-A961-C80450E9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52925"/>
            <a:ext cx="2933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Tekrarlı veri girişini azalt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DEA095-6B88-4E75-8B78-3DFBBB0D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2933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Aynı bilginin farklı ekranlara elle taşınmasını pilot kabul kriterleriyle ölç.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25CB38-1D44-429F-BB4E-D3DFE47B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A081FC-6382-4A2B-A623-709A4060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4762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0">
            <a:solidFill>
              <a:srgbClr val="5B8C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741F8E-80BC-4B70-80D2-D7C03496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1480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C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8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BE48BE-65B1-46FA-8B9C-32D98367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52925"/>
            <a:ext cx="2933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Hata görünürlüğünü artır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D45375-61C3-4311-B827-1AB68EF9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38700"/>
            <a:ext cx="2933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Başarısız senkronizasyonu kaybetmek yerine kuyrukta, nedeni ve sorumlusu ile görünür kıl.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435CAD-6A91-4A58-8EEB-89CAEEEF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43350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62946D-4C0E-4827-9FBB-06F82ED7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43350"/>
            <a:ext cx="4762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CA961B-8430-4CB7-BAD3-C940A913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1480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2C9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2C99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7E946D-05BF-43F9-B68C-6557D979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52925"/>
            <a:ext cx="2933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Kullanıcı deneyimini sadeleştir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3AA340-F4FB-4BF8-B9AD-48DDD6F6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2933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Rol ve şube kapsamına göre yalnız gerekli işlemleri öne çıkar.</a:t>
            </a:r>
          </a:p>
        </p:txBody>
      </p:sp>
    </p:spTree>
    <p:extLst>
      <p:ext uri="{BB962C8B-B14F-4D97-AF65-F5344CB8AC3E}">
        <p14:creationId xmlns:p14="http://schemas.microsoft.com/office/powerpoint/2010/main" val="8636389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A97541-8C09-4098-B477-9A89F2A3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KAMU PROBLEMI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784F9-7EEC-4063-9915-42E35C1C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Entegrasyonun değeri yeni bir ekran değil, daha güvenli bir süreçtir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91324-6BA3-41D6-9D76-8412D7F4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Pilot, okul iş akışındaki kırılmaları ölçülebilir kontrol noktalarına dönüştürmelidir.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F8EC0-FC83-45C7-BF67-B6F44F6E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6722E-CD10-455C-9E6A-886E5F9A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MEB değerlendirmesine sunulmak üzere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0aacab68c49d2"/>
          <a:stretch xmlns:a="http://schemas.openxmlformats.org/drawingml/2006/main"/>
        </p:blipFill>
        <p:spPr>
          <a:xfrm xmlns:a="http://schemas.openxmlformats.org/drawingml/2006/main">
            <a:off x="9526197" y="6562725"/>
            <a:ext cx="226206" cy="22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3EF3C5-A68E-4F23-9F71-704FD9D8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6103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SchoolAsist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8D5EA-5577-441B-95F4-B070FD22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81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482B9-6E60-4C42-BEC7-3B6F7FC5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238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EA88D0-A929-4C70-BDD4-D96FAF64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DA9DF3-7011-43D3-A801-EE660C9E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383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Mükerrer giriş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FB6532-E7C7-4AAF-B09E-AB548A6B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8602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Aynı öğrenci, ders, yoklama veya not verisinin farklı sistemlerde yeniden yazılması.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55A71-E319-445B-86A6-5628F5E0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5238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21EA82-9187-4BFE-B8DC-BAC62C74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835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B8C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B8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8287A4-3ACD-4BC8-870C-A973D809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383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Gecikmiş görünürlük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32F766-C9B7-4BD6-9A71-04C5BCFB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8602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Saha işlemi ile merkezî kaydın arasındaki zaman farkının karar kalitesini düşürmesi.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00E26C-21ED-4D43-8DC9-B5B2EE20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5238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A3812C-B15E-4447-953F-52B80C6C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879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879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5192DB-CCF2-43A2-AA91-DB7C9CA2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481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Sessiz hata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167E73-18F5-4977-B181-87F93C2E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9577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Format, yetki veya bağlantı hatasının kullanıcıya ve yöneticiye yeterince iz bırakmadan yansıması.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D77FE1-0BD9-4271-89ED-4F1D4E7C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57600"/>
            <a:ext cx="5238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E1375A-27D6-4A31-B1D2-E3B9F221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4810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42C99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2C99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19A7BF-8752-4EC6-BBE0-0E37ECBC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481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Rol karmaşası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671023-3257-467E-A0AF-88174D73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9577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Kullanıcının yetki alanı dışındaki menü ve verilerle karşılaşması; şube kapsamının belirsizleşmesi.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E74CCD-2E69-45D5-811F-E1BF71ED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858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solidFill>
              <a:srgbClr val="FFF3D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100909-EF3E-499B-B0A0-72F4F2FA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977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PİLOT PRENSİBİ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82DD3B-945C-4B06-8944-97849FBD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8007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Her veri hareketi; kaynak, zaman, kapsam, sonuç ve hata nedeni ile izlenebilir olmalı.</a:t>
            </a:r>
          </a:p>
        </p:txBody>
      </p:sp>
    </p:spTree>
    <p:extLst>
      <p:ext uri="{BB962C8B-B14F-4D97-AF65-F5344CB8AC3E}">
        <p14:creationId xmlns:p14="http://schemas.microsoft.com/office/powerpoint/2010/main" val="17952259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61A54DB-2CC3-42B5-87DC-B201BFC6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SCHOOLASIST BUGÜN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C31DC-1EEB-40C6-90C0-ADA83459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Entegrasyon için mevcut ürün altyapısı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706AB-F5E8-4D5C-A90C-1B07A4F4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Kod ve demo ekranlarında gözlenen modüller; uçtan uca kabul ve ölçek testleri pilotta tamamlanacaktır.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6EA65-1C8A-49B8-A901-9CDB45D3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5AC5B-1472-41A0-B841-643DA1D8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MEB değerlendirmesine sunulmak üzere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6408e31ce45e3"/>
          <a:stretch xmlns:a="http://schemas.openxmlformats.org/drawingml/2006/main"/>
        </p:blipFill>
        <p:spPr>
          <a:xfrm xmlns:a="http://schemas.openxmlformats.org/drawingml/2006/main">
            <a:off x="9526197" y="6562725"/>
            <a:ext cx="226206" cy="22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2185C-82EF-4197-91E9-9C3E3A17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6103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SchoolAsist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6892D-C845-4AA7-B06F-E427947D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81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0A21E-954A-454E-8B3C-D5D22DBC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3528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6337C-E816-4BA6-9F5E-ACA3FEF0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0">
            <a:solidFill>
              <a:srgbClr val="5B8C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2BD347-9868-44B3-971A-E4A0BF2A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669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DE1C6-4773-4816-B545-147334A7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3835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9525">
            <a:solidFill>
              <a:srgbClr val="42C99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1DD9DF-C12D-42AE-AB08-9E04616F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764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MEVCUT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D65C13-645A-4A10-8DCB-20C6660A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ROL &amp; KAPSAM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78C2A-F628-4435-BF97-5E5C341B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Yönetici · öğretmen · öğrenci · veli · idari · muhasebe · şube yöneticisi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48CFC4-10A5-410D-8794-469F58B8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33528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F03A63-3155-4E63-9304-FB305FBE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19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6A1CE9-0713-44CD-A942-3838169D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669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6D952C-D211-4883-BA50-B9444B6F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3835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9525">
            <a:solidFill>
              <a:srgbClr val="42C99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B43275-0247-4362-AA7A-6CCC0D53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MEVCUT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6D5543-5DFE-4783-9DFF-FCB19015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AKADEMİK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66E737-0206-4ED5-98DD-3B111762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7177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Sınıf, program, yoklama, sınav, içerik, ödev ve raporlama akışları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A5531C-6873-40BE-8215-8A2F3E12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528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F0A9C4-CDC4-41B5-B65F-FCB7378F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19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A879FF"/>
          </a:solidFill>
          <a:ln xmlns:a="http://schemas.openxmlformats.org/drawingml/2006/main" w="0">
            <a:solidFill>
              <a:srgbClr val="A879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1034E0-43DD-4214-8551-FC847953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669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8B78A3-7870-49CB-AEC5-E8BE375E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03835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9525">
            <a:solidFill>
              <a:srgbClr val="42C99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8971D4-7D43-4A51-92BF-57E42CCC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764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MEVCUT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E27729-A109-4E09-9916-8D8348B1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7650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ÖĞRENCİ DENEYİMİ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CE6BCB-F2B6-4C9A-B898-660A837B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7177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Çalışma planı, ilerleme, rozet/XP, sınav ve duyuru görünümü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DF9A36-6EF1-4029-B6E6-0C8D72AC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3528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64B268-3A38-45DF-9032-B2BDCF3D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4C6D8"/>
          </a:solidFill>
          <a:ln xmlns:a="http://schemas.openxmlformats.org/drawingml/2006/main" w="0">
            <a:solidFill>
              <a:srgbClr val="54C6D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533F6F-8952-4658-8C0D-68B6EF59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12CACC-37D2-4231-87BD-5C73183D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4810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9525">
            <a:solidFill>
              <a:srgbClr val="42C99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923714-9F42-4DE8-A71D-1DC5F7F7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862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MEVCUT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737D65-2C4C-4EC6-AD09-FF252860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OPERASYON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8B612E-C341-4490-8B18-D15102E6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8152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Görev merkezi, toplantı, servis, yemekhane, kütüphane ve bildirimler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A2C775-F758-4C48-B876-724E7CBA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19500"/>
            <a:ext cx="33528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1602CE-6793-42AE-9AF1-0946FFC2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29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E48EC1-5199-4F7E-996A-ED824B72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766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FDEBDA-06E0-437F-A07E-94F6BE07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4810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9525">
            <a:solidFill>
              <a:srgbClr val="42C99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401785-43E2-4653-8358-6AC302A5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862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MEVCUT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FE702F-9D07-4923-BA36-16F5E4FC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8625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ONAM &amp; BELGE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097B03-431F-492E-B204-A294025F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8152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Tablet imza istasyonu, metin/PDF şablonu ve dosyaya eklenen onam kaydı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F9C495-CE98-4541-BA8A-58FC44A0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19500"/>
            <a:ext cx="33528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46199D-54D6-45CC-8813-383A3F35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DF7DF83-2C73-430C-A3A1-92E99E72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766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106189-E61D-4020-9B8F-D68B0F70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84810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9525">
            <a:solidFill>
              <a:srgbClr val="42C99A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704C02B-DC4B-4AA2-9E6E-31CB77F8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862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MEVCUT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5B130D-7B15-49CA-A2CA-50D80947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8625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SÜRÜCÜ KURSU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65C56A-4A26-470B-B199-08ACAB9E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8152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Aday, evrak, dönem, sınav, sertifika ve MEBBİS iş merkezi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262F814-CF3E-4469-896C-04DAD19B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816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Not: Mevcut kabiliyet, e‑Okul’a bugün bağlı olduğu anlamına gelmez. e‑Okul adaptörü bu omurganın üzerine pilot kapsamında inşa edilecektir.</a:t>
            </a:r>
          </a:p>
        </p:txBody>
      </p:sp>
    </p:spTree>
    <p:extLst>
      <p:ext uri="{BB962C8B-B14F-4D97-AF65-F5344CB8AC3E}">
        <p14:creationId xmlns:p14="http://schemas.microsoft.com/office/powerpoint/2010/main" val="9433438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A87EB1-3FDF-47B8-A153-09E0FDA2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GERÇEK ÜRÜN EKRANI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BB82B-AB94-4B2A-B241-43D17BF8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Kurum yöneticisi için tek operasyon yüzeyi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2934B-DADC-4DF9-8B32-18E5F419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Akademik durum, öğretmen görünürlüğü ve ilgili modüllere geçiş tek bağlamda sunulur.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AC8F2-1394-41A9-A6A6-883A3C63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74724-0BE0-4BC5-B778-7BCD4EA3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Gerçek uygulama ekranları • temsili demo verileri • 04.09.2026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8c9e0e1eb94295"/>
          <a:stretch xmlns:a="http://schemas.openxmlformats.org/drawingml/2006/main"/>
        </p:blipFill>
        <p:spPr>
          <a:xfrm xmlns:a="http://schemas.openxmlformats.org/drawingml/2006/main">
            <a:off x="9526197" y="6562725"/>
            <a:ext cx="226206" cy="22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8E5AB-ED09-4475-8716-2E1F2ADD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6103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SchoolAsist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140AA-09B0-44D9-B509-6D3C6115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81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4D602-6D1A-4EF0-B26B-1ACCF6CE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763905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050B17"/>
          </a:solidFill>
          <a:ln xmlns:a="http://schemas.openxmlformats.org/drawingml/2006/main" w="9525">
            <a:solidFill>
              <a:srgbClr val="294263"/>
            </a:solidFill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6a8c8d6fa4daa"/>
          <a:stretch xmlns:a="http://schemas.openxmlformats.org/drawingml/2006/main"/>
        </p:blipFill>
        <p:spPr>
          <a:xfrm xmlns:a="http://schemas.openxmlformats.org/drawingml/2006/main">
            <a:off x="555625" y="1714500"/>
            <a:ext cx="7518400" cy="4229100"/>
          </a:xfrm>
          <a:prstGeom xmlns:a="http://schemas.openxmlformats.org/drawingml/2006/main" prst="roundRect">
            <a:avLst>
              <a:gd name="adj" fmla="val 3153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7B36B-3671-4E56-B403-C0916C85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956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DFF9E4-7916-4E28-A337-950D9FB2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47625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0">
            <a:solidFill>
              <a:srgbClr val="5B8C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289CA-254F-45DB-8489-CEBBCE00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24050"/>
            <a:ext cx="249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C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8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B47B8-A546-4600-8A55-6A113356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6217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Rol odaklı navigasyon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0A75FE-AE86-44EC-9D2B-AEFF5987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14600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Kullanıcı yalnız göreviyle ilişkili ekranlara yönlendirilir.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368B5D-EBC0-4669-BB90-B1E6C36A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28956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8C1100-5F01-46E4-99E6-CB0A6B94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47625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D17D4E-2042-4367-987B-6598A2D4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76600"/>
            <a:ext cx="249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2C9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2C99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B5698-2B81-4D33-A6F0-B74BE232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1472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Şube bağlamı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0B0102-65AC-4D85-9E34-E6F3834A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67150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Görünen kayıtlar seçili kurum ve şube kapsamına göre filtrelenir.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1079BB-2B7D-48D0-9A98-A29919EA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57700"/>
            <a:ext cx="28956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28399E-335B-4031-A011-D0F9A9DC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57700"/>
            <a:ext cx="47625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F7E796-2368-456C-8389-D499B1B2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29150"/>
            <a:ext cx="249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E7EFA2-C414-489E-9574-222FFFF0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6727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İşleme giden gösterge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6BB811-D59F-4BC0-876B-2C4D1689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19700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Kart ve özetler yalnız rapor değil, ilgili iş akışına geçiş noktasıdır.</a:t>
            </a:r>
          </a:p>
        </p:txBody>
      </p:sp>
    </p:spTree>
    <p:extLst>
      <p:ext uri="{BB962C8B-B14F-4D97-AF65-F5344CB8AC3E}">
        <p14:creationId xmlns:p14="http://schemas.microsoft.com/office/powerpoint/2010/main" val="7335480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F8B23A-1B9E-4B90-9640-B9E200FA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FARKLILAŞTIRICI IŞ AKIŞI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BF727-0AFE-4734-B1E0-4A667722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Yoklamayı sınıftan denetim izine taşıyan QR akışı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86C8B-10A1-435B-AED1-1BCCAD1A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Kiosk üretir, öğrenci mobilde doğrular, yetkili kullanıcı sonuçları rol kapsamıyla izler.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E6CA0-1874-4299-A094-BFD902E6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99F09-A993-478B-A020-6176F643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Gerçek uygulama ekranları • temsili demo verileri • 04.09.2026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4ee4bdc8e4a1f"/>
          <a:stretch xmlns:a="http://schemas.openxmlformats.org/drawingml/2006/main"/>
        </p:blipFill>
        <p:spPr>
          <a:xfrm xmlns:a="http://schemas.openxmlformats.org/drawingml/2006/main">
            <a:off x="9526197" y="6562725"/>
            <a:ext cx="226206" cy="22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25856-C03D-40EB-882D-8E06DEA0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6103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SchoolAsist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3C36E-9DB3-4613-8A6D-EDF4E670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81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75964-EC6A-44EC-A7DB-441D6F6B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33550"/>
            <a:ext cx="552450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050B17"/>
          </a:solidFill>
          <a:ln xmlns:a="http://schemas.openxmlformats.org/drawingml/2006/main" w="9525">
            <a:solidFill>
              <a:srgbClr val="294263"/>
            </a:solidFill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c784f98ad48fb"/>
          <a:stretch xmlns:a="http://schemas.openxmlformats.org/drawingml/2006/main"/>
        </p:blipFill>
        <p:spPr>
          <a:xfrm xmlns:a="http://schemas.openxmlformats.org/drawingml/2006/main">
            <a:off x="533400" y="1840706"/>
            <a:ext cx="5410200" cy="3043238"/>
          </a:xfrm>
          <a:prstGeom xmlns:a="http://schemas.openxmlformats.org/drawingml/2006/main" prst="roundRect">
            <a:avLst>
              <a:gd name="adj" fmla="val 424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8CE875-CF2A-4531-B851-F32BC86E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33550"/>
            <a:ext cx="533400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050B17"/>
          </a:solidFill>
          <a:ln xmlns:a="http://schemas.openxmlformats.org/drawingml/2006/main" w="9525">
            <a:solidFill>
              <a:srgbClr val="294263"/>
            </a:solidFill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19d785edbf4cdb"/>
          <a:stretch xmlns:a="http://schemas.openxmlformats.org/drawingml/2006/main"/>
        </p:blipFill>
        <p:spPr>
          <a:xfrm xmlns:a="http://schemas.openxmlformats.org/drawingml/2006/main">
            <a:off x="6438900" y="1894284"/>
            <a:ext cx="5219700" cy="2936081"/>
          </a:xfrm>
          <a:prstGeom xmlns:a="http://schemas.openxmlformats.org/drawingml/2006/main" prst="roundRect">
            <a:avLst>
              <a:gd name="adj" fmla="val 4242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68DA01-3C86-4DEC-A037-C1B50C1D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F8543-58D4-47A7-8149-66ED7D7F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42313-FE32-4073-9D42-A2BC5278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768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Oturum açılır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B8ED8B-C09F-45BE-B999-D3914D51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86400"/>
            <a:ext cx="3333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AC0742-C5C4-435E-8244-2A2ED1F2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4292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0">
            <a:solidFill>
              <a:srgbClr val="5B8C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3BA80D-8A30-43FC-BC12-82D2E196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4768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9F2CEC-8239-4D09-81BC-EDC60699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768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Süreli QR üretilir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06F09B-C717-4315-BB6A-1B562B7B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486400"/>
            <a:ext cx="3333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15221A-C4D6-4CCF-A26C-325EF509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292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A879FF"/>
          </a:solidFill>
          <a:ln xmlns:a="http://schemas.openxmlformats.org/drawingml/2006/main" w="0">
            <a:solidFill>
              <a:srgbClr val="A879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03C288-7668-4624-A439-844B1710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768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A32CF6-9A71-40DE-B9B9-027A6F15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768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Mobil doğrular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2E08D1-C490-4F29-8D8B-6EDFCD73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486400"/>
            <a:ext cx="3333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8F8B8C-82CE-4813-AA6E-D0F1BA4B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4292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8490FC-93E8-4953-87CB-110030EE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4768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B35751-C28F-480D-B688-9473F482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4768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Kayıt raporlanır</a:t>
            </a:r>
          </a:p>
        </p:txBody>
      </p:sp>
    </p:spTree>
    <p:extLst>
      <p:ext uri="{BB962C8B-B14F-4D97-AF65-F5344CB8AC3E}">
        <p14:creationId xmlns:p14="http://schemas.microsoft.com/office/powerpoint/2010/main" val="7545278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332FDD-497E-493E-9B1E-416D7FD6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KULLANICI DENEYIMI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E26EB-21AE-47B6-ACDA-5397CD82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Aynı veri, role göre farklı karar yüzeyi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E61B9-600C-49BC-B8EF-2B5D5F03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Öğretmen işi yürütür; öğrenci planını görür; veli çocuğunun kritik durumunu takip eder.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05AAC-AE43-408D-A04D-D6C6F7F5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8E9C5-0AA9-4B49-A5DD-3E300E61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Gerçek uygulama ekranları • temsili demo verileri • 04.09.2026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de3ce81a24c06"/>
          <a:stretch xmlns:a="http://schemas.openxmlformats.org/drawingml/2006/main"/>
        </p:blipFill>
        <p:spPr>
          <a:xfrm xmlns:a="http://schemas.openxmlformats.org/drawingml/2006/main">
            <a:off x="9526197" y="6562725"/>
            <a:ext cx="226206" cy="22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EAFA8-391D-4B31-808D-4CC133AC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6103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SchoolAsist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D3C54-25A8-4B01-BF1D-49EC722A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81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E4E819-DE21-4171-B44E-0B47AECA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52600"/>
            <a:ext cx="363855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050B17"/>
          </a:solidFill>
          <a:ln xmlns:a="http://schemas.openxmlformats.org/drawingml/2006/main" w="9525">
            <a:solidFill>
              <a:srgbClr val="294263"/>
            </a:solidFill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74eea44014a23"/>
          <a:srcRect xmlns:a="http://schemas.openxmlformats.org/drawingml/2006/main" l="16647" t="0" r="166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809750"/>
            <a:ext cx="3524250" cy="2971800"/>
          </a:xfrm>
          <a:prstGeom xmlns:a="http://schemas.openxmlformats.org/drawingml/2006/main" prst="roundRect">
            <a:avLst>
              <a:gd name="adj" fmla="val 448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A13DF-279C-492C-AC91-9EF845F5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9525">
            <a:solidFill>
              <a:srgbClr val="5B8C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87031-F54F-4AEE-945E-70132E2B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ÖĞRETMEN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EDCC63-9EE3-4F1C-BCDF-9B2AC0C5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Ders, değerlendirme, sınav ve içerik odağı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868BE1-FE8B-4BC2-9DDE-B8C78C78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52600"/>
            <a:ext cx="363855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050B17"/>
          </a:solidFill>
          <a:ln xmlns:a="http://schemas.openxmlformats.org/drawingml/2006/main" w="9525">
            <a:solidFill>
              <a:srgbClr val="294263"/>
            </a:solidFill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e845e95bd4f37"/>
          <a:srcRect xmlns:a="http://schemas.openxmlformats.org/drawingml/2006/main" l="16647" t="0" r="166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0550" y="1809750"/>
            <a:ext cx="3524250" cy="2971800"/>
          </a:xfrm>
          <a:prstGeom xmlns:a="http://schemas.openxmlformats.org/drawingml/2006/main" prst="roundRect">
            <a:avLst>
              <a:gd name="adj" fmla="val 4487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A48EE1-7DA0-4808-971D-FC71B209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9339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879FF"/>
          </a:solidFill>
          <a:ln xmlns:a="http://schemas.openxmlformats.org/drawingml/2006/main" w="9525">
            <a:solidFill>
              <a:srgbClr val="A879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B6A545-F4D7-42C8-A05B-B93EB80C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72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ÖĞRENCİ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38769A-A71E-4DAF-877B-1816F188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149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Plan, hedef, çalışma serisi ve ilerleme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A54A7F-FA4E-4667-AC26-6BBD2A54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63855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050B17"/>
          </a:solidFill>
          <a:ln xmlns:a="http://schemas.openxmlformats.org/drawingml/2006/main" w="9525">
            <a:solidFill>
              <a:srgbClr val="294263"/>
            </a:solidFill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b5287ff65f4459"/>
          <a:srcRect xmlns:a="http://schemas.openxmlformats.org/drawingml/2006/main" l="16647" t="0" r="166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05800" y="1809750"/>
            <a:ext cx="3524250" cy="2971800"/>
          </a:xfrm>
          <a:prstGeom xmlns:a="http://schemas.openxmlformats.org/drawingml/2006/main" prst="roundRect">
            <a:avLst>
              <a:gd name="adj" fmla="val 4487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59A1BA-9646-4ED1-A8D6-63A78916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339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9525">
            <a:solidFill>
              <a:srgbClr val="42C99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E14500-D2F7-4DD7-A97B-6CF1BE9F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972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VELİ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7DB922-0D08-415B-A101-F343FF0C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149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Devam, başarı, duyuru ve finans görünümü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320C9D-E67A-4A78-AED9-2911FCF8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11334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0A01BB-2B17-417E-8770-E900F045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91225"/>
            <a:ext cx="1089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Sonuç: Kullanıcıya bütün sistemi değil, sorumlu olduğu işi gösteren bir arayüz modeli.</a:t>
            </a:r>
          </a:p>
        </p:txBody>
      </p:sp>
    </p:spTree>
    <p:extLst>
      <p:ext uri="{BB962C8B-B14F-4D97-AF65-F5344CB8AC3E}">
        <p14:creationId xmlns:p14="http://schemas.microsoft.com/office/powerpoint/2010/main" val="10996601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84BFA9-F349-4B69-9377-3382E8F4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ERIŞIM MIMARISI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4E71E-336A-4234-BB98-B5405CD6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Yetki yalnız role değil, kurum ve şube kapsamına da bağlı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BC24B-0D14-4F82-A9C1-71C27564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Entegrasyonda aynı kapsam zinciri veri okuma, yazma ve hata görüntüleme işlemlerine uygulanmalıdır.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98742-EE00-4A1C-B311-45A698A8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4834F-ACD5-4A5C-AFD6-4A129B0B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Gerçek uygulama ekranları • temsili demo verileri • 04.09.2026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500829a25a419d"/>
          <a:stretch xmlns:a="http://schemas.openxmlformats.org/drawingml/2006/main"/>
        </p:blipFill>
        <p:spPr>
          <a:xfrm xmlns:a="http://schemas.openxmlformats.org/drawingml/2006/main">
            <a:off x="9526197" y="6562725"/>
            <a:ext cx="226206" cy="22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FAB9F-3AAC-45AD-A5F9-F49C4FB5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6103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SchoolAsist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277855-A124-4BF9-9198-D569BB9D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81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05CFD-A0E3-4EAD-A83B-FF492994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544830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050B17"/>
          </a:solidFill>
          <a:ln xmlns:a="http://schemas.openxmlformats.org/drawingml/2006/main" w="9525">
            <a:solidFill>
              <a:srgbClr val="294263"/>
            </a:solidFill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0ae8b0019434c"/>
          <a:srcRect xmlns:a="http://schemas.openxmlformats.org/drawingml/2006/main" l="9615" t="0" r="96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771650"/>
            <a:ext cx="5334000" cy="3714750"/>
          </a:xfrm>
          <a:prstGeom xmlns:a="http://schemas.openxmlformats.org/drawingml/2006/main" prst="roundRect">
            <a:avLst>
              <a:gd name="adj" fmla="val 359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728643-5BB7-4F38-AA5D-DDFE5521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28800"/>
            <a:ext cx="4762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F59E0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7493DA-A187-4307-B5EB-C3A8A452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19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861D40-DFC9-458F-9E12-204772B3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669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325898-387C-4458-B3C5-45F73235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62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Kurum / tenant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B1A98-65D5-4DD9-8292-01AC868B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28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Veri sahipliği ve izolasyon sınırı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00884-86AB-4259-9A1E-F6F9ED04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24150"/>
            <a:ext cx="42291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5B8C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DBD8E9-A93D-45A6-AF99-BDDF0B94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14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0">
            <a:solidFill>
              <a:srgbClr val="5B8C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0DBEB8-F237-45B0-9864-4B9D5A1E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622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749BA4-E8CA-4960-9E48-C9AD662A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5750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Şube kapsamı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9A1B4C-FBA7-43D4-9696-8D7EC622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24200"/>
            <a:ext cx="346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Birleşik görünüm veya yetkili şube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4AB451-92E4-41CD-965A-81A0B4EE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19500"/>
            <a:ext cx="3695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A879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C7198-AA00-4D84-A703-6C387547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10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A879FF"/>
          </a:solidFill>
          <a:ln xmlns:a="http://schemas.openxmlformats.org/drawingml/2006/main" w="0">
            <a:solidFill>
              <a:srgbClr val="A879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236BA5-9635-4F8D-8316-2F3EC3AB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576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8D1583-3488-4334-9EC5-F10FABE9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5285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Rol ve izin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4D3C09-11FC-4A2B-AEA5-0F307EF9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1955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İşlem bazlı erişim kontrolü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6726C5-9FB1-4D20-8B67-25085C16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14850"/>
            <a:ext cx="3162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42C99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617F1B-5451-40FA-98FF-BE3EF55E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053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40EE66-68FA-4FEF-AAB1-EA732753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52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48C616-1794-4F96-9080-AFF82BE0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482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Kayıt filtresi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C0C533-06E4-42D4-98FA-C5849AC8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14900"/>
            <a:ext cx="2400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Sorgu ve iş kuralında son kapsam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AFFADA-74C3-4952-86D3-F76802D3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38800"/>
            <a:ext cx="1600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FFF3D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5B2B7F-1601-41BB-BC78-75B502DA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7690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PİLOT KABUL KRİTERİ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2DD4F0-6CE5-49AF-9C55-5C6E1787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676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Yetkisiz çapraz kurum/şube erişimi: 0 tolerans</a:t>
            </a:r>
          </a:p>
        </p:txBody>
      </p:sp>
    </p:spTree>
    <p:extLst>
      <p:ext uri="{BB962C8B-B14F-4D97-AF65-F5344CB8AC3E}">
        <p14:creationId xmlns:p14="http://schemas.microsoft.com/office/powerpoint/2010/main" val="6739239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8731EC-CD52-4017-A8B3-1D058D63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BELGE VE ONAM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5C44C-6FAB-417A-A86D-94202338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İzin metninden imzalı dosyaya izlenebilir zincir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F82A4-B5CA-4404-B497-9ADF8407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Öğrenci ve veli onamları için ürün içinde şablon, tablet imzası ve dosyalama akışı bulunur.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C4DC3-4008-43F8-893E-5034E3E0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57312-06FC-4B3C-8A54-9B5A2E0B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Gerçek uygulama ekranları • temsili demo verileri • 04.09.2026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1cd25e3154fb1"/>
          <a:stretch xmlns:a="http://schemas.openxmlformats.org/drawingml/2006/main"/>
        </p:blipFill>
        <p:spPr>
          <a:xfrm xmlns:a="http://schemas.openxmlformats.org/drawingml/2006/main">
            <a:off x="9526197" y="6562725"/>
            <a:ext cx="226206" cy="22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21580-CB9F-41D4-A4CD-3D17F52F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6103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SchoolAsist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9587D-58B4-4553-97C3-334F4725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81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F127C-D6B0-4092-8A21-E80EC7BC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95450"/>
            <a:ext cx="723900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050B17"/>
          </a:solidFill>
          <a:ln xmlns:a="http://schemas.openxmlformats.org/drawingml/2006/main" w="9525">
            <a:solidFill>
              <a:srgbClr val="294263"/>
            </a:solidFill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70b193ee4b4a63"/>
          <a:stretch xmlns:a="http://schemas.openxmlformats.org/drawingml/2006/main"/>
        </p:blipFill>
        <p:spPr>
          <a:xfrm xmlns:a="http://schemas.openxmlformats.org/drawingml/2006/main">
            <a:off x="1060450" y="1752600"/>
            <a:ext cx="5994400" cy="3371850"/>
          </a:xfrm>
          <a:prstGeom xmlns:a="http://schemas.openxmlformats.org/drawingml/2006/main" prst="roundRect">
            <a:avLst>
              <a:gd name="adj" fmla="val 395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69E25-B61E-4174-9B0B-71C8B4D9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52600"/>
            <a:ext cx="36195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111E12-6C91-4589-9C37-88E3B3CE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62150"/>
            <a:ext cx="1600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CC8C2-B306-47A7-81E6-AE4D4935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002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MEVCUT ÜRÜN AKIŞI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804090-F24C-4D9F-A265-8893C203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10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Belgeyi sürecin</a:t>
            </a:r>
          </a:p>
          <a:p xmlns:a="http://schemas.openxmlformats.org/drawingml/2006/main">
            <a:pPr algn="l">
              <a:defRPr sz="18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parçası hâline getirir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A879FA-3C35-412D-BA31-427BE858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38500"/>
            <a:ext cx="3105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PDF yükleme ve form tanımlama</a:t>
            </a:r>
          </a:p>
          <a:p xmlns:a="http://schemas.openxmlformats.org/drawingml/2006/main">
            <a:pPr algn="l">
              <a:defRPr sz="12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Öğrenci / veli için imza istasyonu</a:t>
            </a:r>
          </a:p>
          <a:p xmlns:a="http://schemas.openxmlformats.org/drawingml/2006/main">
            <a:pPr algn="l">
              <a:defRPr sz="12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Onam kaydını dosyayla ilişkilendirme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D2E7A-EE36-4C14-952E-096863A7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67200"/>
            <a:ext cx="3067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Demo ortamında henüz form tanımlanmamıştır. Ekran şablon yönetimini gösterir; tamamlanmış imza örneği değildir.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B01B2D-83C0-4502-B7AF-168AB845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DBA5A-16F6-4879-96CD-D2B38440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F0F969-BF53-40B0-B77D-5D817B31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610225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Şablon / PDF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D76A2B-C0B8-46B8-B5AE-DA91805F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1975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403B15-7023-497D-B008-C17EAF92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5245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575F2F-3A11-49A3-83FA-09B5C434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197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8C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8C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396470-2747-4D65-BFEA-83EFA92B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10225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Tablete gönderim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BC95A0-4DB5-4F2F-BE52-48D8D3FA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61975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E3DF72-92FF-4D44-AAE8-A342AB27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245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4A86D1-990D-48FF-B294-26D23E31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197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879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879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AD7C52-2712-45F4-9692-55069E94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610225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İmza kaydı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4132F2-2413-42D0-A86D-094B9858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1975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3816DA-4C37-4CBD-B711-9D44CC41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5245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5607EC-C998-4FE4-8C12-5A0B757D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56197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2C9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C99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573989-63B8-4DD7-87A3-62DD0008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10225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Logolu PDF + dosya</a:t>
            </a:r>
          </a:p>
        </p:txBody>
      </p:sp>
    </p:spTree>
    <p:extLst>
      <p:ext uri="{BB962C8B-B14F-4D97-AF65-F5344CB8AC3E}">
        <p14:creationId xmlns:p14="http://schemas.microsoft.com/office/powerpoint/2010/main" val="6450157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D628124-D4C6-4D9C-B829-F7895EB3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ÖNERILEN ENTEGRASYON MIMARISI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36E58-CB22-4EDA-9DC1-1B09ADE8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e‑Okul ile kontrollü veri alışverişi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D0F71-3740-4C9B-8AF3-1301D7C5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Resmî kaynak e‑Okul’dur. Yetkili servis, veri sözlüğü ve güvenlik koşulları MEB ile netleştirilecektir.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D9577-BF70-4753-9216-616E27F5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9AC39-DE57-4176-998F-37E87499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MEB değerlendirmesine sunulmak üzere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cbb0846c304064"/>
          <a:stretch xmlns:a="http://schemas.openxmlformats.org/drawingml/2006/main"/>
        </p:blipFill>
        <p:spPr>
          <a:xfrm xmlns:a="http://schemas.openxmlformats.org/drawingml/2006/main">
            <a:off x="9526197" y="6562725"/>
            <a:ext cx="226206" cy="22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D8B13-ADCD-4ED4-96E3-D4E0C73A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6103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SchoolAsist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18479-DFAD-4E6E-8044-F37CA620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81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C95C3-563E-4B5A-AB51-64BF7278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381125"/>
            <a:ext cx="1733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DA87C-C229-41F9-A0AC-F415863A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41922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PİLOT KAPSAMINDA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464E1A-229F-4CAE-8C68-316E76AD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809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F59E0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85A80-F9AA-4534-9176-04AD78A5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643F2E-0C1B-4EEE-B682-6F1EFFE9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145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BAA74-96FF-40E9-A446-F2D5B3EE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e‑Okul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E8551-8368-4300-A7B3-5508A1F8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Yetkili kayıt kaynağı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93AF89-D407-43F1-B4AC-F43F1825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600325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95F90F-E3AA-4ED0-95C9-377339CE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95500"/>
            <a:ext cx="2000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5B8C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49FD8C-E5A6-484E-AF65-9B2782A0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669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0">
            <a:solidFill>
              <a:srgbClr val="5B8C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07633D-80E5-4AE6-B2B1-C446EA62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145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9DD8D7-F99F-43B5-A0AB-5AD4BC0A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860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API / adaptör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996A5B-F770-4825-BF41-881E1D0B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718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Kimlik · yetki · oran sınırlama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AF729D-8453-46C9-9457-08436DEE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00325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1A5FD4-BAFE-4C9F-A46C-0B15DAA5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95500"/>
            <a:ext cx="2000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A879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A7CD27-B2A9-4C24-8B10-4F3D25B7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669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A879FF"/>
          </a:solidFill>
          <a:ln xmlns:a="http://schemas.openxmlformats.org/drawingml/2006/main" w="0">
            <a:solidFill>
              <a:srgbClr val="A879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6122EC-1AA1-4427-82CF-0C626983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145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CD24B7-580F-45EB-B42B-8A4C6D33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860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Hazırlama alanı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D7800D-E129-4DF9-B49D-9AA9F629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718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Şema · veri kalitesi · kapsam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2AAFE6-7F78-4B3D-B046-81AE64C7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00325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A79ECB-9CE8-4DCF-AD43-0404A1A7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95500"/>
            <a:ext cx="2000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54C6D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3D9565-A9B7-44FE-BF74-2831301C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669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4C6D8"/>
          </a:solidFill>
          <a:ln xmlns:a="http://schemas.openxmlformats.org/drawingml/2006/main" w="0">
            <a:solidFill>
              <a:srgbClr val="54C6D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66F735-4DCF-4777-A87F-CF7CBBEC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145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5DEE16-C46C-4446-B9B3-5D563D4B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860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Mutabakat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D13335-B6F8-4C07-935F-56A063E3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718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İşlem günlüğü · hata kuyruğu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95684F-92BD-43B7-B57B-0ECF10C7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00325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2D14B8-DF55-4014-806A-89F70C8A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16002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42C99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FBDEFC-E2CA-4C8B-8C03-97F76B15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2669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08664A-D928-4BBF-B95A-A150271C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3145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BE8EDC-AA33-46B5-9E89-B37B3C6B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860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SchoolAsist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0C24C5-16B1-487B-BD01-251B040F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9718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Rol ekranları ve iş akışı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184895-A4F6-4EDE-AC9D-192E7CBA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104775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2A49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5AE792-074F-48B1-9663-A4E4DEA9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ZORUNLU KONTROLLER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2B5D2E-782D-41A2-94BA-BA76ADF9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31989D-D87D-4FB2-A061-4CC3332D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96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4D1514-FE20-492F-8E47-E7C83E40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38675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Alan eşleme sürümü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8399A1-8FAF-424B-8422-1A7CD15F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72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E6E813-D129-4B00-BAA8-E07AAFDF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196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0C98A8-C6A8-4343-B312-180CF251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38675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İdempotent işlem anahtarı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FAB3575-E5C5-45EE-97DD-673FB654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72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CFE29AC-E6BE-4E60-9AEF-54912A1B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196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92954C2-F4F7-4153-B546-738A054E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38675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Kurum/şube kapsam doğrulaması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2662217-F801-4B22-AEBB-BF8B8554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149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56A8EE-DF75-4168-9F18-8F28491D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62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79455E1-9513-463D-B5AB-F066FD31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81575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Başarısız kayıt kuyruğu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E751F6E-E354-4626-ADA3-1ACBF1E2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149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ADD59DD-4CEC-4981-B290-C721E31D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62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DCE5740-A51F-44B0-9CC4-9325D04A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981575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Çift yönlü mutabakat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04021EB-C835-4F2B-8524-2F9EF395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149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02361AF-38D6-45A6-9CD0-F362AE21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62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FC6838C-CDE3-43AF-9442-A930A278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81575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Değiştirilemez denetim izi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5785632-DA93-415D-A818-5DAE8363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Barındırma, veri yerleşimi, kimlik doğrulama ve servis yetkilendirmesi MEB’in belirleyeceği güvenlik mimarisine göre uygulanır.</a:t>
            </a:r>
          </a:p>
        </p:txBody>
      </p:sp>
    </p:spTree>
    <p:extLst>
      <p:ext uri="{BB962C8B-B14F-4D97-AF65-F5344CB8AC3E}">
        <p14:creationId xmlns:p14="http://schemas.microsoft.com/office/powerpoint/2010/main" val="13616828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BA74E6-E140-4C81-9462-4106F816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İŞLEM GÜVENLIĞI • ÖNERILEN TASARIM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703F2-61D1-4906-B2F2-17DE7C3D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Her senkronizasyon kaydı için izlenebilir yaşam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3BDD8-00CE-4CF3-8BE3-2499AD51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Hata yönetimi, yeniden deneme ve mutabakat pilot tasarımının temel kontrol noktalarıdır.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8D3A1D-76FF-4705-A35E-589BB603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7CE58-485B-49FC-BC73-0EFC0CF7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MEB değerlendirmesine sunulmak üzere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63904c5894b34"/>
          <a:stretch xmlns:a="http://schemas.openxmlformats.org/drawingml/2006/main"/>
        </p:blipFill>
        <p:spPr>
          <a:xfrm xmlns:a="http://schemas.openxmlformats.org/drawingml/2006/main">
            <a:off x="9526197" y="6562725"/>
            <a:ext cx="226206" cy="22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D15E4-0DA3-421C-B15D-6D302996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6103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SchoolAsist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C3A70-1529-4854-B8E5-2B4A4B87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81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A3B8D-9C33-4AFE-BB3B-51A1B55B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43100"/>
            <a:ext cx="16383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F59E0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034D8-38E8-4F74-9A7D-B9D85BA9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555076-0863-481B-974D-4BA4FFD1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E35C4-7202-400C-B321-313B59C5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Yetkili kaynaktan kayıt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835857-D2A4-40DF-9927-778D63C6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43175"/>
            <a:ext cx="2095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0C7516-6A9D-4EEC-913C-86385EFB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43100"/>
            <a:ext cx="16383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5B8C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4D1DAA-0559-4C1A-B505-B63E61BB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14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8C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B8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4239B-06FF-4658-92C3-F999B9B3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3365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Doğrula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B4D971-3CCF-492B-9324-FE431DA6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146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Şema ve zorunlu alan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31DE51-5F8A-441A-BEA5-4166515A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43175"/>
            <a:ext cx="2095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1CFE55-BE09-41A6-A352-78535428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43100"/>
            <a:ext cx="16383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A879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695CC5-2000-4AA6-85BA-3ACA1BC4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14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79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879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E2DD17-0CD2-40D7-928A-D9F23DD4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3365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Kapsamla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159103-B496-4ADD-8DA0-27244EDA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146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Kurum, şube, rol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F9F116-5C49-4E05-AC41-34E5EC4C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43175"/>
            <a:ext cx="2095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CB819F-31E4-4FDD-BCE1-410C83F9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43100"/>
            <a:ext cx="16383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54C6D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414A9B-E507-4594-AEC7-E9C1B284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14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4C6D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4C6D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3FE1ED-2F59-4CE3-9209-3EF86EC9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3365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Kuyrukla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64CEF3-FDCB-4627-A8F4-6939BAF0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146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Tekrarsız işlem anahtarı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E2619A-2106-4DC2-BA49-3961E63C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43175"/>
            <a:ext cx="2095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448EF0-F1CA-4DBB-902E-908A0AEC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43100"/>
            <a:ext cx="16383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42C99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5926BB-3B96-4AD6-8CB5-76207C66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14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2C99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C99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87F413-F872-42C9-BCD7-4AD7086A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Yaz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69AFF2-5493-4DEC-8AA2-99977A14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146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Yetkili hedef servise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D2C457-043B-4EDC-8FAD-3E9201D7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43175"/>
            <a:ext cx="2095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48BFF5-3033-4C1C-88A7-919DB488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943100"/>
            <a:ext cx="16383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FFB93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CB1525-3D79-498C-8E4A-87199A05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114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BF265A-8A20-4187-9D2E-06949FC0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53365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Mutabık kal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7913CB-9330-4702-B496-994FA10A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9146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Sonuç ve kaynak izi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5D1B23-E918-4208-BA74-63E9CAB9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10325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62A49"/>
          </a:solidFill>
          <a:ln xmlns:a="http://schemas.openxmlformats.org/drawingml/2006/main" w="19050">
            <a:solidFill>
              <a:srgbClr val="FF6B6B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20FEC8-F8F3-4089-8FB1-27E05D8D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005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A41F2D-0C91-44CA-8625-9A48504C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4815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HATA HATTI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C04B79-E52A-46C0-B73D-7946D57E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Otomatik tekrar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A22035-6DC9-4B76-A5D7-9938C6D5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72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Geçici bağlantı ve zaman aşımı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EE6A24-60EC-4F3A-BDBE-BF0CA6EC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86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İnsan incelemesi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A37FFD-7691-4479-A2C8-6DDB8280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72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Alan eşleme ve iş kuralı hatası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0887F15-2ED2-424E-A262-EFFC3663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86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Geri alma / telafi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E24105F-2168-4A99-AD1C-460B502E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72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Kısmi başarı ve tutarsızlık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ACCE56-64CC-421E-AAD4-A51227D9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86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Raporlama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2E62260-631E-474B-BBC0-86D55AB9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72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Neden, zaman, sorumlu, sonuç</a:t>
            </a:r>
          </a:p>
        </p:txBody>
      </p:sp>
    </p:spTree>
    <p:extLst>
      <p:ext uri="{BB962C8B-B14F-4D97-AF65-F5344CB8AC3E}">
        <p14:creationId xmlns:p14="http://schemas.microsoft.com/office/powerpoint/2010/main" val="15461686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5BB96E2-28E0-46CE-AD70-818ADF44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KARŞILAŞTIRMA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10ED5-9ED3-44BB-BE55-72F4866F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K12NET ve SchoolAsist — akademik ve entegrasyon yetkinlikleri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58F4F-105F-4CCC-9CB6-A52BEB38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Karşılaştırma, kamuya açık K12NET tanıtım dokümanı ve SchoolAsist proje kanıtları üzerinden hazırlanmıştır.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06F8F-E1C9-44FE-B52F-A273F2EA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BCB2E-EDBF-4E57-9491-6720F3FD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MEB değerlendirmesine sunulmak üzere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281307af2f4aee"/>
          <a:stretch xmlns:a="http://schemas.openxmlformats.org/drawingml/2006/main"/>
        </p:blipFill>
        <p:spPr>
          <a:xfrm xmlns:a="http://schemas.openxmlformats.org/drawingml/2006/main">
            <a:off x="9526197" y="6562725"/>
            <a:ext cx="226206" cy="22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65A84-AAD6-49FA-9F6A-31F3AA7A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6103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SchoolAsist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70D35-48F8-4DF2-AF8E-829A15EB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81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3906A2-72C0-484C-9FAE-B5D8D14E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2381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A4B097-8F23-4F32-AFE2-2390367B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19275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KABİLİYET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758DCD-DB11-478F-9959-58EFEC81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695450"/>
            <a:ext cx="29908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62A49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435A6B-0FF5-4F40-8BB4-FEF44627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19275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K12NET — KAMUYA AÇIK BİLGİ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B6728-F558-4AD5-A9B1-99C5B662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30289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62A49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DE34C-7A9B-46F3-8538-D23FE943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19275"/>
            <a:ext cx="2800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SCHOOLASIST — BUGÜN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5409BB-FF28-46B9-B28B-397BD44D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95450"/>
            <a:ext cx="23050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62A49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CFA841-B4BC-4E67-B038-991A2848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19275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PİLOT / FAZ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638EC1-5D47-4FA0-B00F-AA2FD7D0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E11106-C10A-4DB6-B0B5-C3BB68B4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90750"/>
            <a:ext cx="2990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58AEF2-961F-409E-9CE3-1ECB0C18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3028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F4D7DB-59B6-4731-8BA4-5B36110E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2305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69A0EE-E998-4341-BB6A-101416F1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e‑Okul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A23E1D-B957-4575-BC01-D4B016FB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860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Temel veriler tek yön; not/devamsızlık çift yön aktarım beyanı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5BD910-7AD3-4B00-A925-2815C26B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860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Henüz e‑Okul bağlı değil; MEBBİS iş merkezi deseni mevcut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9D8F24-F6EE-4D99-8A02-61C344ED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6220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2C9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C99A"/>
                </a:solidFill>
                <a:latin typeface="Arial"/>
                <a:ea typeface="Arial"/>
                <a:cs typeface="Arial"/>
              </a:rPr>
              <a:t>Faz 1 — adaptör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D7D7B4-C31E-4FC6-A985-69C95CFB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AE6ECE-15DD-4ACE-AE1D-6F4468B1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33700"/>
            <a:ext cx="2990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24C26C-5EB8-47A0-B4DB-F777699D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33700"/>
            <a:ext cx="3028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E97934-ED3C-495A-9060-E7B3D16C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33700"/>
            <a:ext cx="2305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42A21E-3918-47BF-80BC-F12C3EF6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Ölçme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DB34BF-2A5E-45B2-8EF5-B29177E3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2895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Optik, online, açık uçlu/rubrik ve kazanım analizi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549DE9-BBE1-4627-91D4-68931E0D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289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Online sınav, soru bankası, sonuç ve raporlama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843E38-5991-4A30-AE25-8522D45B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051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2C9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C99A"/>
                </a:solidFill>
                <a:latin typeface="Arial"/>
                <a:ea typeface="Arial"/>
                <a:cs typeface="Arial"/>
              </a:rPr>
              <a:t>Faz 2 — optik/kazanım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C35ABA-95E5-433B-960F-8ABE3ADA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131C01-06B7-4767-8AD3-99E54EBD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76650"/>
            <a:ext cx="2990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6E1AB8-621A-4307-B152-DF890FCC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3028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CDD5E6-F9BD-4793-B8D2-219FE641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76650"/>
            <a:ext cx="2305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1256BF-5F68-4205-BF33-BE2E8AC6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Not defteri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549F39-595C-4CB0-86B8-A31A7C4D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719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e‑Okul düzeni, ağırlıklar ve yıl sonu hesapları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987C15-0D6C-420A-9E8D-7888FDBF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719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Not girişi ve sınav iş akışı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6EFF7B-F824-4436-9096-E9BD18B5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4810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2C9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C99A"/>
                </a:solidFill>
                <a:latin typeface="Arial"/>
                <a:ea typeface="Arial"/>
                <a:cs typeface="Arial"/>
              </a:rPr>
              <a:t>Faz 2 — parite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0F6C0B-323C-493B-99AB-EA0D43C3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6A3CBB-0ECB-4676-9909-9E3479CC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19600"/>
            <a:ext cx="2990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53B00B-B039-4253-8AF1-ADCF5CBD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3028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D504C4-3BBA-427B-B01F-D7FD809A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19600"/>
            <a:ext cx="2305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5E8A48-9B49-4BDA-AE17-13DF66C2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Yoklama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8086EC-2440-44A9-B7D2-6E92E09F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1485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Günlük/ders, bildirim ve e‑Okul aktarımı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CFE829-0E3D-4903-841C-58FA8CC6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QR kiosk, mobil doğrulama ve rol ekranları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008943-30BB-4B16-AD0F-904C706A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910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2C9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C99A"/>
                </a:solidFill>
                <a:latin typeface="Arial"/>
                <a:ea typeface="Arial"/>
                <a:cs typeface="Arial"/>
              </a:rPr>
              <a:t>Faz 1 — senkron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E1B9D7F-0993-49CC-B598-CCC23CD2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CCEB5C-7D99-4679-969A-69C3A9DC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62550"/>
            <a:ext cx="2990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4E1DA3F-F720-4DAB-A6C8-41EC68D7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62550"/>
            <a:ext cx="3028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62B3F7-02CC-461A-A501-DF8D9A63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162550"/>
            <a:ext cx="2305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DA6228-C1C3-4AC3-9963-1C60CF07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Sınav organizasyonu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A633FEA-8EE7-4679-822C-681FE04D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2578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Kelebek oturma, optik form ve yayıncı sınavları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19A5D33-BFF4-4C76-ADF3-F47CC5B3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578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Dijital sınav oluşturma ve çalışma alanı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EF2A46F-7164-4653-B398-EDDA0219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33400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2C9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C99A"/>
                </a:solidFill>
                <a:latin typeface="Arial"/>
                <a:ea typeface="Arial"/>
                <a:cs typeface="Arial"/>
              </a:rPr>
              <a:t>Faz 2/3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0AAF3DD-D856-4523-9F20-D5DE4BA2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110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K12NET bilgileri sürüme ve kurum yapılandırmasına göre değişebilir; teknik doğrulama satın alma/pilot öncesi ayrıca yapılmalıdır.</a:t>
            </a:r>
          </a:p>
        </p:txBody>
      </p:sp>
    </p:spTree>
    <p:extLst>
      <p:ext uri="{BB962C8B-B14F-4D97-AF65-F5344CB8AC3E}">
        <p14:creationId xmlns:p14="http://schemas.microsoft.com/office/powerpoint/2010/main" val="19888831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1E62A03-BBF6-4A7E-8941-7B5A79DE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KARŞILAŞTIRMA 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7BBF1-99E6-4FC0-B3DF-15FB2A9B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K12NET ve SchoolAsist — operasyon ve kullanıcı deneyimi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2403E-B4EF-45B1-8AED-80836209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SchoolAsist’in öne çıkan ürün yaklaşımı: rol odaklı ekranlar ve bütünleşik operasyon akışları.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F8FF1-E577-4F5D-8895-15BC29A5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BA0D0-75EF-45B3-97B2-4A809DF3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MEB değerlendirmesine sunulmak üzere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f24c9cdee4cfe"/>
          <a:stretch xmlns:a="http://schemas.openxmlformats.org/drawingml/2006/main"/>
        </p:blipFill>
        <p:spPr>
          <a:xfrm xmlns:a="http://schemas.openxmlformats.org/drawingml/2006/main">
            <a:off x="9526197" y="6562725"/>
            <a:ext cx="226206" cy="22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8F261-EE86-493B-80D6-3583CCE3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6103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SchoolAsist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0BE86-EBD1-4A43-88CF-65A9AEAE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81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F27E0A-36E3-4A78-B57C-DF87E4DA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2381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74EFD-8C87-4E1C-8356-B56FB9A0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19275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KABİLİYET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4D1F7-3044-4981-8CCF-EDF77DD9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695450"/>
            <a:ext cx="29908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62A49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E5671-844A-4222-B7D2-21DF5B31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19275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K12NET — KAMUYA AÇIK BİLGİ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57E72-75AF-4A98-9D42-F6FA27B1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30289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62A49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48322C-406B-4F30-9E80-620255B0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19275"/>
            <a:ext cx="2800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SCHOOLASIST — BUGÜN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071E6B-CE79-4CBE-BEF9-D8AB8FB7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95450"/>
            <a:ext cx="23050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62A49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FA13BC-03AB-4B17-BA53-E44EBC9A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19275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DEĞERLENDİRME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00B364-8481-4154-90D4-D3BB5B87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D159F6-AA17-40BA-94E2-25959B56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90750"/>
            <a:ext cx="2990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618D50-000F-4DF1-85C5-9C661A10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3028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D57A25-C8B4-44D0-A430-62B63FDA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2305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811EC6-4BAA-4AA5-A6AA-44CF7F43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Rol portalları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4475FC-E2C7-417C-8CD9-46240F7C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860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Öğrenci, veli, öğretmen ve personel portalları; yetkilendirme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9DC69B-CF3E-4A50-B321-E99AE2B0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860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Rol + tenant + şube kapsamı; role özel panolar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8D64FB-B7CE-4965-8E9C-2D84D78C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6220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2C9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C99A"/>
                </a:solidFill>
                <a:latin typeface="Arial"/>
                <a:ea typeface="Arial"/>
                <a:cs typeface="Arial"/>
              </a:rPr>
              <a:t>Arayüz yaklaşımı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0D998C-C1CE-4099-8600-2F6581EB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F3A565-8669-4819-AFBB-C545FCC1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33700"/>
            <a:ext cx="2990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9C838B-EAB0-4219-9D2E-AD62361D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33700"/>
            <a:ext cx="3028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D15F47-BC23-4882-9175-9D927239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33700"/>
            <a:ext cx="2305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DACE1A-1E2A-4B9D-A28A-CC5289A2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Öğrenci gelişimi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DB7EE0-6BB5-4F59-BAAF-36892A1F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2895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Sınav/kazanıma göre etüt ve sonuç analizi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224E9D-C3BE-4D5F-814E-AA8360F9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289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Çalışma planı, hedef, seri, XP/rozet ve öneriler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07F510-A669-4351-937E-BC97A0A5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051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8C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8CFF"/>
                </a:solidFill>
                <a:latin typeface="Arial"/>
                <a:ea typeface="Arial"/>
                <a:cs typeface="Arial"/>
              </a:rPr>
              <a:t>Tamamlayıcı güç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4AD40E-7934-4F7F-B60B-11E1304D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861C95-3A28-413D-998E-99B29768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76650"/>
            <a:ext cx="2990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620D76-3232-4CB0-A807-379F3E3C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3028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8B1147-CDCB-44AB-A2CF-78FA8367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76650"/>
            <a:ext cx="2305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A351E3-DBAA-431B-BA55-816E6E44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Onam / imza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6539A6-7ADF-483B-ADA0-6DCAC15B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719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Tablet imza akışı incelenen kaynakta doğrulanamadı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BE9ABB-5EF3-491F-BB1D-BC7F8AB4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719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Tablet imza istasyonu, onam şablonu ve PDF dosyalama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29D01F-F223-4E2B-B563-C9E1F701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4810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2C9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C99A"/>
                </a:solidFill>
                <a:latin typeface="Arial"/>
                <a:ea typeface="Arial"/>
                <a:cs typeface="Arial"/>
              </a:rPr>
              <a:t>Mevcut ürün gücü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DBAD4F-C50E-49FF-9061-13C05379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C57006-76D3-4E03-8C6F-B287AA10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19600"/>
            <a:ext cx="2990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76FD99-864A-4EA9-94A1-7F37C353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3028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EDC508-A82F-40E9-BEAF-22675C3C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19600"/>
            <a:ext cx="2305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D23192-7838-4D9E-A22F-2CDE7EAE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Operasyon genişliği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E80562-75A7-4C01-8EC5-FA5CB49A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1485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Sağlık, PDKS, stok, e‑ticaret, kulüp ve anket gibi olgun modüller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FA2C46A-9F4D-41EE-8F44-D1056239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Servis, yemekhane, kütüphane, görev, finans ve iletişim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2FA5A8-E0B4-4168-909D-5E4B3587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910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K12NET olgunluğu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19F7A8-8526-4841-A9BF-8ED0F92D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918491-B7DF-47A6-9AFE-5431252C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62550"/>
            <a:ext cx="2990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62CB9F-2BEA-4434-A45E-12E9714A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62550"/>
            <a:ext cx="3028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D2D4E3D-417E-46A3-A95A-D1DD7B2A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162550"/>
            <a:ext cx="2305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7103B1E-E5C9-4A20-86F2-1878A5B4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Sürücü kursu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9E6CD5E-98CC-49CC-99E5-45A78293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2578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Kamuya açık genel broşürde ana odak değil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CD4FC2-B7C5-4523-8C6F-5222A9F7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578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MEBBİS iş hazırlığı / dışa aktarım; doğrudan bağlantı iddiası yok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8081E06-041F-4B59-A103-79357339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33400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2C9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C99A"/>
                </a:solidFill>
                <a:latin typeface="Arial"/>
                <a:ea typeface="Arial"/>
                <a:cs typeface="Arial"/>
              </a:rPr>
              <a:t>Uzmanlaşmış iş akışı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994E2A4-06FC-4FB9-B061-6FDEB58D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110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Stratejik sonuç: K12NET’in olgun parite alanları açıkça planlanmalı; SchoolAsist’in rol, şube, QR, onam ve MEBBİS akışları korunmalıdır.</a:t>
            </a:r>
          </a:p>
        </p:txBody>
      </p:sp>
    </p:spTree>
    <p:extLst>
      <p:ext uri="{BB962C8B-B14F-4D97-AF65-F5344CB8AC3E}">
        <p14:creationId xmlns:p14="http://schemas.microsoft.com/office/powerpoint/2010/main" val="18574490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EAF8AAB-6EC7-499D-B4D7-4BE34379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FAZLANDIRILMIŞ GELIŞIM PLANI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41152-265D-4B7D-99EC-66E9F966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Planlı sürüm geliştirmeleri ve yaygınlaştırma yol haritası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AB693-4E20-4897-8FB3-B4A11AD3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Henüz sunulmayan yetkinlikler; tanımlı kapsam, kabul kriteri ve sürüm kapılarıyla ürünleştirilecektir.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6D241-3945-413C-8CEE-5C4FDFDE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6A3E8-5C45-4ED7-8776-3959E847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MEB değerlendirmesine sunulmak üzere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b95a513cf4bb3"/>
          <a:stretch xmlns:a="http://schemas.openxmlformats.org/drawingml/2006/main"/>
        </p:blipFill>
        <p:spPr>
          <a:xfrm xmlns:a="http://schemas.openxmlformats.org/drawingml/2006/main">
            <a:off x="9526197" y="6562725"/>
            <a:ext cx="226206" cy="22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7F79F-A7FB-4448-8848-4298521E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6103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SchoolAsist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00B0C-2676-4276-82F0-0C34C9E9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81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775D29-AAA0-482D-955D-45E5775F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3276600" cy="39624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F59E0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7E7BF-6A88-4633-9E20-0819E9FE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B662CD-F89D-46B6-9B81-B9DA5120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FAZ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2E2A4-1266-4B3E-81A9-07DD85BF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e‑Okul pilot çekirdeği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B9B9F3-F7E3-4B51-AE6C-93C1F522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BA6C9-E5BF-4E88-AF93-871B29F5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9DC654-96B7-491A-8380-3DAFF29C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718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Veri sözlüğü ve alan eşleme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1EAE16-A29A-4EE4-8EB8-1CDCD09C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13091D-54CA-47A6-A6C0-A74A6411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F02A35-C2B2-4E24-9EBD-174889F4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290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Kimlik / yetki modeli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17B19B-D840-4CD4-A94F-270B49C5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6FC966-C925-42EE-975F-7C0F33F2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FF1600-61D5-4D67-B74B-F0A74E00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862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Öğrenci-sınıf-ders senkronu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9E0188-DFB1-4DAF-88CE-A9A27E79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B6371D-E390-43A8-89FB-66133F14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05DF04-BE76-4D01-955F-6BD544AB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434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Yoklama/not pilot akışı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B5712B-87D6-49F4-B563-3754C209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D649DA-2ACD-40AA-A846-0FA75AC4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079BDB-B742-4BB0-A542-0DD8906E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006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Kuyruk, log, mutabakat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06A289-6D56-4B45-BB8A-CBE0EA63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52600"/>
            <a:ext cx="3276600" cy="39624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5B8C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D437D7-7A16-43C4-A6F4-1A4AC15A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6215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9525">
            <a:solidFill>
              <a:srgbClr val="5B8C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4141B0-2DF0-4BE6-9588-CF8170FB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02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FAZ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3CD342-7340-4F82-BC88-A6C04850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00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Akademik parite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F449AE-06AC-4A03-97D3-DF6F8A05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0">
            <a:solidFill>
              <a:srgbClr val="5B8C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2B6CD8-151F-42C7-9F1A-408D831B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527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B8D1BB-FDD1-4459-AF3B-8CA34E18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718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Optik sınav içe aktarımı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AC9A75-48FA-4DFB-BC2F-7DAEDE70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623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0">
            <a:solidFill>
              <a:srgbClr val="5B8C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B093F7-A765-4709-942A-90E632EC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09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1E88FD-3ABE-4A6D-9F71-D3AE6861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290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Kazanım bazlı analiz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7A1505-8AA2-419C-AA1F-8E35C872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195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0">
            <a:solidFill>
              <a:srgbClr val="5B8C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4E9747-040E-444F-8F4E-693B27C1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671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4B5A60-E0E2-47FF-851C-59069B7B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862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Gelişmiş not defteri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093EB8-8880-4E6A-AA04-513E1F5E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76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0">
            <a:solidFill>
              <a:srgbClr val="5B8C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E2D65D-47B3-485D-8739-BA870F2D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243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898405-B85A-4380-938C-5C5F772D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434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Kelebek oturma ve sınav belgesi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BAD943-A4CC-4075-93CD-C21FDAD8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339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0">
            <a:solidFill>
              <a:srgbClr val="5B8C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2B25C9-C0E0-45F1-9C6D-3E9D0414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815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129864-3BB7-4392-A910-DC78E52E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006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Otomatik etüt önerileri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35A520-C657-49D2-9523-A01FADB5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52600"/>
            <a:ext cx="3276600" cy="39624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42C99A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509BF0-7D90-4B76-8812-591A91B2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6215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9525">
            <a:solidFill>
              <a:srgbClr val="42C99A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E1E28D-EDE0-4B92-806F-17CDCF46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002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FAZ 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72922A-9016-4A48-B655-C4376D1E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00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Kurumsal ölçek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7B8458-2B7E-4B1D-98F4-F5A1CC3C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051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43BDE76-3BE8-4A31-A777-052AEAC9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527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FB7E26D-CF83-4EC1-85D9-FF44BB52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718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Sağlık / envanter derinliği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D1A3314-2D57-4881-9A58-E2FBD6DC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623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404C2F9-38B9-498C-8B2A-CE525AA9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09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C882FDD-469C-49CC-9DCD-B5B09E19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PDKS ve dış donanım seçenekleri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85183F-C7D0-458D-9EA1-88F51A8F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195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FB97F4B-C668-418A-9FC5-35C45B6F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671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A06AAA7-FEC9-4854-887F-54C852C1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862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Mali entegratör paketleri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A35D8D6-1894-48E7-AD3B-A7299571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76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C49C28B-0E7A-43B5-95A0-FF8CA2C6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243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957EC1E-A678-45FB-837D-5BE874BD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434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LGS/YKS tercih iş akışları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FF44630-99F6-451E-B043-F3987E68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339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E365DF2-6F03-4C44-9022-CC4BA952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815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8B91148-17C2-40FE-A43B-A1ECD8B7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006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Gelişmiş rapor ve veri ambarı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A648AA7-5118-4C9D-8C9D-29BBD105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Takvim ve öncelik sırası, MEB servis erişimi ve pilot okul ihtiyaç analizi sonrasında kesinleştirilir.</a:t>
            </a:r>
          </a:p>
        </p:txBody>
      </p:sp>
    </p:spTree>
    <p:extLst>
      <p:ext uri="{BB962C8B-B14F-4D97-AF65-F5344CB8AC3E}">
        <p14:creationId xmlns:p14="http://schemas.microsoft.com/office/powerpoint/2010/main" val="13474528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267D6D-2C17-4153-B043-FFE7CB66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ÖNERILEN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18779-1992-4D4C-B196-994E9F95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12 haftada kontrollü doğrulama, ölçüm ve ölçek kararı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EBD4B-77D3-41C3-94F0-05DBC207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Pilot yalnız teknik bağlantıyı değil; veri kalitesi, kullanıcı yükü, güvenlik ve yönetişimi birlikte test eder.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25198-8BCB-4890-87A7-44346A9E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F7DED5-7C95-4535-8435-0CB1D4EC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MEB değerlendirmesine sunulmak üzere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07b4d9bdf4593"/>
          <a:stretch xmlns:a="http://schemas.openxmlformats.org/drawingml/2006/main"/>
        </p:blipFill>
        <p:spPr>
          <a:xfrm xmlns:a="http://schemas.openxmlformats.org/drawingml/2006/main">
            <a:off x="9526197" y="6562725"/>
            <a:ext cx="226206" cy="22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24541-ACE4-4D4E-8985-A2BBA51C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6103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SchoolAsist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A4591-03F7-42AB-A9F7-B3D48C1B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81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02EB3-01C1-4EDB-A2FF-8F8CD530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20764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F59E0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7E272-4CE9-43EE-A992-AE637B59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33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A3A31-F69C-406E-A09E-6C5D15CA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HAFTA 1–2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E7543D-7634-4479-8061-CFE351AC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Keşif &amp; sözlük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6FC85E-63B8-4976-BE6A-2C295A32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733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Servis erişimi, alan eşleme, rol ve kapsam matrisi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5B1F2-5639-4C52-8F40-34ED62B9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76550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BA622-4F7A-49D4-8C66-A12F18E4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00250"/>
            <a:ext cx="20764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5B8C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D3C1AE-D7A4-4FB0-9E2F-2E099EB9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90750"/>
            <a:ext cx="933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9525">
            <a:solidFill>
              <a:srgbClr val="5B8C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9EB0FD-4C30-43B6-81C6-1E636590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288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HAFTA 3–5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50DF28-920C-4CCA-8DF5-32350366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6700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Teknik prototip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9918F1-7809-43EA-AF7E-2F1A8DF2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38500"/>
            <a:ext cx="1733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Salt-okunur akış, hazırlama alanı, log ve hata kuyruğu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5FCFD1-A5C3-439B-B0DE-C9AEBBCD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76550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BC9CA6-D403-4D67-84D9-BC67CDB6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00250"/>
            <a:ext cx="20764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A879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907D7A-F495-4364-B62E-08A68039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90750"/>
            <a:ext cx="933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879FF"/>
          </a:solidFill>
          <a:ln xmlns:a="http://schemas.openxmlformats.org/drawingml/2006/main" w="9525">
            <a:solidFill>
              <a:srgbClr val="A879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3A66FC-2378-415D-9E58-403F9933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288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HAFTA 6–8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1040C6-056B-49E0-A738-68C5C7AC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6700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Sınırlı okul pilotu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DBB483-8C98-4252-9CD6-175FF1A0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38500"/>
            <a:ext cx="1733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Seçili veri alanları, kullanıcı eğitimi, günlük mutabakat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E8B229-B678-48DB-BD09-C190CE20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76550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70B157-83F2-428F-850C-FF7D88AD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20764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54C6D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1ED645-878F-4B8E-96CF-82982B96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933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54C6D8"/>
          </a:solidFill>
          <a:ln xmlns:a="http://schemas.openxmlformats.org/drawingml/2006/main" w="9525">
            <a:solidFill>
              <a:srgbClr val="54C6D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4373B5-4807-43B0-BF47-91A41229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288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HAFTA 9–10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EF374B-5EBC-44B2-BA59-3D77FE43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6700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Doğrulama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1AB13F-08BB-488E-9B99-9AE019CB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1733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Yük, güvenlik, veri kalitesi ve geri alma senaryoları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ED4FE1-4BDD-4B8E-9E87-AA250461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76550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AD8EBE-B7B3-4431-BA0D-381E1EC3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00250"/>
            <a:ext cx="20764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42C99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24FD53-4C70-4D78-9C4C-9C01F50F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90750"/>
            <a:ext cx="933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9525">
            <a:solidFill>
              <a:srgbClr val="42C99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C8AF0C-E11D-4AEB-B1EE-11F2ADB0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288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HAFTA 11–12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06CD5B-5323-49AD-A852-79F6C1A7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6700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Karar kapısı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934B33-6C4B-4320-BD19-94345B23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0"/>
            <a:ext cx="1733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Kabul raporu, riskler, maliyet ve ölçekleme önerisi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0A72DD-DF17-47FC-B30D-85C01862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95800"/>
            <a:ext cx="112966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62A49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FB347C-6542-4B4C-8A93-AC36F649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148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ORTAK YÖNETİŞİM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57CF27-B550-4CE7-A0E3-1D401BC1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MEB teknik ekip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2C1B25-3941-4589-8956-EC90C838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Servis, güvenlik ve resmî veri sözlüğü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B05458-7F38-4A0F-8EFA-DA95F79D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95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Pilot okul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49C00C-E118-4E97-B201-10E5C6B4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334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Süreç sahibi, son kullanıcı ve veri doğrulama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5CB3A5-840B-4C91-8357-711B5EDB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095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SchoolAsist ekip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5DB51D-20BB-479C-B001-B3A0C105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334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Adaptör, ürün akışı, destek ve ölçüm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DC5605-3815-4AE8-A697-E3252313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95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Bağımsız kontrol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D23D950-7B1D-482D-B686-14F3487F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Güvenlik / KVKK / kabul testleri — gerekirse</a:t>
            </a:r>
          </a:p>
        </p:txBody>
      </p:sp>
    </p:spTree>
    <p:extLst>
      <p:ext uri="{BB962C8B-B14F-4D97-AF65-F5344CB8AC3E}">
        <p14:creationId xmlns:p14="http://schemas.microsoft.com/office/powerpoint/2010/main" val="11369154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AC9E68-CCD1-4949-845A-BF50BB3B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KARAR ÖNERISI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2DC7A-874B-4887-B1EB-EE9E0A10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Bir sonraki adım: teknik çalıştay + sınırlı pilot yetkilendirmesi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12866-6FB8-475F-B79C-727ABA69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Karar, pazarlama söylemine değil; ölçülebilir kabul kriterlerine dayanmalıdır.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1FF77-3AE9-4F29-92CD-7AE091BF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D1CD7-3532-4953-B6E6-68AA1ADB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MEB değerlendirmesine sunulmak üzere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3ede4453344b2"/>
          <a:stretch xmlns:a="http://schemas.openxmlformats.org/drawingml/2006/main"/>
        </p:blipFill>
        <p:spPr>
          <a:xfrm xmlns:a="http://schemas.openxmlformats.org/drawingml/2006/main">
            <a:off x="9526197" y="6562725"/>
            <a:ext cx="226206" cy="22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43556-017F-47CE-A5F2-4C93110A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6103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SchoolAsist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041A63-E307-4BC8-92B8-C0A33811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81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9DA8C-F214-4828-A3E1-CAAADEBA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ÖNERİLEN PİLOT KABUL HEDEFLERİ — MEVCUT PERFORMANS SONUCU DEĞİLDİR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3B70A-04D4-4641-BA2F-9348C484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2571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42C99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28951-505F-4C01-8216-96F458A9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2C99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C99A"/>
                </a:solidFill>
                <a:latin typeface="Arial"/>
                <a:ea typeface="Arial"/>
                <a:cs typeface="Arial"/>
              </a:rPr>
              <a:t>≥ %99,5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EBC56-106A-4576-8393-2907762A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Doğrulanmış kayıt senkron başarısı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E5091-EA70-4930-85C9-28A38EC1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90700"/>
            <a:ext cx="2571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5B8C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D744C-F740-42F8-A4A6-85FABA07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002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B8C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B8CFF"/>
                </a:solidFill>
                <a:latin typeface="Arial"/>
                <a:ea typeface="Arial"/>
                <a:cs typeface="Arial"/>
              </a:rPr>
              <a:t>%100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855821-67D2-477D-9CB6-021E6A9B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1460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İşlem ve hata için denetim izi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D05A08-B2A8-4E3E-8751-FD653987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2571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F59E0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7F9D9-7442-43E9-A58F-404726E7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101D21-9640-4A54-BE59-244BF5E9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1460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Yetkisiz çapraz kurum / şube erişimi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E55464-FDA6-45C4-A135-779FA0DB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90700"/>
            <a:ext cx="2571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A879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C32ADA-09D4-4385-9EEF-F9AC2684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002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879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79FF"/>
                </a:solidFill>
                <a:latin typeface="Arial"/>
                <a:ea typeface="Arial"/>
                <a:cs typeface="Arial"/>
              </a:rPr>
              <a:t>≤ 1 iş günü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63227F-C878-4335-9E16-8887F3A0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1460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Kritik mutabakat farkı çözüm hedefi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938ECD-16FB-4AB4-BECD-E5B6D225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04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Talep edilen karar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D15E31-DA98-4A19-B2C2-2B48288C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5E801A-F9E7-407E-A35B-421D6918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95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9AB3F9-3DFA-46FA-85C4-64393C35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e‑Okul teknik veri sözlüğü ve yetkili servis modelinin değerlendirilmesi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548D3E-E354-4C5A-8909-D8FE7F93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0">
            <a:solidFill>
              <a:srgbClr val="5B8C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CAF62C-BD3F-482E-B761-9DDEE52F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96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72A4E5-D681-4425-80CA-1C154EB0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386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Bir teknik çalıştay ve güvenlik mimarisi oturumu planlanması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F03105-C9C1-4ECB-AB7B-9DBBBB52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2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A879FF"/>
          </a:solidFill>
          <a:ln xmlns:a="http://schemas.openxmlformats.org/drawingml/2006/main" w="0">
            <a:solidFill>
              <a:srgbClr val="A879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DD6687-25F2-4C79-B5B2-B7B0A942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96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679F92-A5C0-4E83-8E54-A00A54C0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387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Sınırlı sayıda kurum/şube ile pilot kapsamının belirlenmesi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525D25-ECFB-425C-87EE-F80E2E9A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721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D79FDF-BF19-4107-AB27-A4B26DDD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97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B0BB04-5EE0-4BBF-9C5A-E5B32834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38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Ortak kabul kriterleri, sorumluluk matrisi ve karar kapısının onaylanması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76DECF-7145-4E6B-8C8D-39187896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62350"/>
            <a:ext cx="2857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solidFill>
              <a:srgbClr val="FFF3D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CC2083-865C-47AD-855B-BD7015F8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95700"/>
            <a:ext cx="1257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50B17"/>
          </a:solidFill>
          <a:ln xmlns:a="http://schemas.openxmlformats.org/drawingml/2006/main" w="9525">
            <a:solidFill>
              <a:srgbClr val="294263"/>
            </a:solidFill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687479d5684052"/>
          <a:stretch xmlns:a="http://schemas.openxmlformats.org/drawingml/2006/main"/>
        </p:blipFill>
        <p:spPr>
          <a:xfrm xmlns:a="http://schemas.openxmlformats.org/drawingml/2006/main">
            <a:off x="9626234" y="3752850"/>
            <a:ext cx="1131031" cy="1143000"/>
          </a:xfrm>
          <a:prstGeom xmlns:a="http://schemas.openxmlformats.org/drawingml/2006/main" prst="roundRect">
            <a:avLst>
              <a:gd name="adj" fmla="val 11667"/>
            </a:avLst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DA2055-4A56-42A3-BC53-B24D3CEF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101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SchoolAsist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61CD26-5856-4A34-A9C8-3872E049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35305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Pilotla doğrula.</a:t>
            </a:r>
          </a:p>
          <a:p xmlns:a="http://schemas.openxmlformats.org/drawingml/2006/main">
            <a:pPr algn="ctr">
              <a:defRPr sz="1050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Ölç. Güvenle ölçekle.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B6CB02-7045-4CA2-A7CD-366A136B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Önerilen eşikler pilot başlangıcında MEB ile birlikte kesinleştirilir.</a:t>
            </a:r>
          </a:p>
        </p:txBody>
      </p:sp>
    </p:spTree>
    <p:extLst>
      <p:ext uri="{BB962C8B-B14F-4D97-AF65-F5344CB8AC3E}">
        <p14:creationId xmlns:p14="http://schemas.microsoft.com/office/powerpoint/2010/main" val="71745461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554C89-8479-4720-B780-B0F18078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EK • KAYNAKLAR VE DEĞERLENDIRME SINIRLARI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47BB0-F8C7-4D01-BB17-95B490D9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Kanıta dayalı anlatım, açık kapsam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9D429-0B04-4494-8032-16705EBF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Ayrıntılı bağlantılar ve ürün kanıtları ilgili slaytların konuşmacı notlarında yer alır.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6AD28-E66E-462D-94B0-E403FD79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041A2-3EE8-4D29-8FC3-48095FFA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MEB değerlendirmesine sunulmak üzere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824ebc3ba4d00"/>
          <a:stretch xmlns:a="http://schemas.openxmlformats.org/drawingml/2006/main"/>
        </p:blipFill>
        <p:spPr>
          <a:xfrm xmlns:a="http://schemas.openxmlformats.org/drawingml/2006/main">
            <a:off x="9526197" y="6562725"/>
            <a:ext cx="226206" cy="22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09B24-8705-45D1-8B9C-B7C2CBC7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6103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SchoolAsist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9489A-2E56-468D-BDE8-E2966067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81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BFD13-3EC0-480C-8DA9-169AF357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5391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DCC77-0F1A-4FEA-852E-01B15D8C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AEC04-F982-45ED-B82F-CFD972F7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CF0C7-4346-4CFE-971E-15FFD728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193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SchoolAsist ürün incelemesi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47136-886E-4FA1-AAF2-3D704C0D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4895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Yerel demo ekranları • 04.09.2026</a:t>
            </a:r>
          </a:p>
          <a:p xmlns:a="http://schemas.openxmlformats.org/drawingml/2006/main">
            <a:pPr algn="l">
              <a:defRPr sz="10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Rol / kapsam modelleri ve ilgili servis kaynak kodları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6ECCF8-4DB3-4845-9DDE-79F0782E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90700"/>
            <a:ext cx="5391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FCEA0C-CA20-4155-94C5-7DB9FB62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0">
            <a:solidFill>
              <a:srgbClr val="5B8C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4A507-9EE0-4340-B472-CB32ECCE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478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A8B204-D6D1-4297-977E-005B9891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193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K12NET resmî tanıtım dokümanı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CB4E9-1A13-4C07-AE3C-1FC621CE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14600"/>
            <a:ext cx="4895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dokuman.k12net.com/dokuman/genel/k12netpdf.PDF</a:t>
            </a:r>
          </a:p>
          <a:p xmlns:a="http://schemas.openxmlformats.org/drawingml/2006/main">
            <a:pPr algn="l">
              <a:defRPr sz="10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Kamuya açık kabiliyet beyanları; kurum sürümüne göre teyit gerekir.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2BC062-8A3F-465B-AFBC-CC47BDF3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48050"/>
            <a:ext cx="5391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96650E-C306-4FA6-911F-E09ADDBF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6578A2-3091-44CA-A0CE-4DD40D17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81FF04-7963-44F3-A075-00287F6F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766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MEB — e‑Okul sistem kapsamı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CB67B1-9D2C-469B-A94C-9B239968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4895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MEB 2023 Bütçe Raporu • sgb.meb.gov.tr</a:t>
            </a:r>
          </a:p>
          <a:p xmlns:a="http://schemas.openxmlformats.org/drawingml/2006/main">
            <a:pPr algn="l">
              <a:defRPr sz="10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Resmî kayıt sistemi bağlamı; API erişim veya entegrasyon izni değildir.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FC18B8-222B-456C-8AC6-E8663905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48050"/>
            <a:ext cx="5391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541C2D-7518-431A-A365-1F11463D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57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A879FF"/>
          </a:solidFill>
          <a:ln xmlns:a="http://schemas.openxmlformats.org/drawingml/2006/main" w="0">
            <a:solidFill>
              <a:srgbClr val="A879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D16780-72CD-4651-AF73-616F1AD0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05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75A979-163F-45B9-A5B5-BBC62604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766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KVKK — veri güvenliği yükümlülükleri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9C28E3-53BF-4270-A6C0-5CCA156E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71950"/>
            <a:ext cx="4895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kvkk.gov.tr • Veri Güvenliğine İlişkin Yükümlülükler</a:t>
            </a:r>
          </a:p>
          <a:p xmlns:a="http://schemas.openxmlformats.org/drawingml/2006/main">
            <a:pPr algn="l">
              <a:defRPr sz="10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Ürün işlevi tek başına mevzuata uygunluk belgesi değildir.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4C5E05-E9CC-4390-BE1F-2CAEF3D0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111633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62A49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907937-7FD0-40F6-BA79-49A86FF3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DEĞERLENDİRME SINIRI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A44E57-6CC9-4287-BD4C-E1031C2A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1062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Bu çalışma tam ürün sertifikasyonu veya bağımsız performans testi değildir. Kaynakta doğrulanamayan özellik ‘yok’ sayılmaz. Pilot takvimi, kabul eşikleri ve geliştirme fazları ortak teknik değerlendirmeyle kesinleşir.</a:t>
            </a:r>
          </a:p>
        </p:txBody>
      </p:sp>
    </p:spTree>
    <p:extLst>
      <p:ext uri="{BB962C8B-B14F-4D97-AF65-F5344CB8AC3E}">
        <p14:creationId xmlns:p14="http://schemas.microsoft.com/office/powerpoint/2010/main" val="1929035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2026-09-05T02:24:14.5480000Z</dcterms:created>
  <dcterms:modified xsi:type="dcterms:W3CDTF">2026-09-05T02:24:14.5480000Z</dcterms:modified>
</coreProperties>
</file>